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93777" y="1346895"/>
            <a:ext cx="403542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Budget Mate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3489573" y="2108895"/>
            <a:ext cx="220784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Financial Coach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90851" y="2809875"/>
            <a:ext cx="762000" cy="38100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40923" y="3228975"/>
            <a:ext cx="52620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Kiwis tell their money where to go before they wonder where it went.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86035" y="4575870"/>
            <a:ext cx="117178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Deck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829866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553766"/>
            <a:ext cx="5143500" cy="908447"/>
          </a:xfrm>
          <a:prstGeom prst="roundRect">
            <a:avLst>
              <a:gd name="adj" fmla="val 8388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706166"/>
            <a:ext cx="4857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Budgeting apps create anxiety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38200" y="1963341"/>
            <a:ext cx="4857750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numbers everywhere. Warning alerts. Shame-based design. Users feel judged, not supported.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647700" y="2652713"/>
            <a:ext cx="5143500" cy="735211"/>
          </a:xfrm>
          <a:prstGeom prst="roundRect">
            <a:avLst>
              <a:gd name="adj" fmla="val 10364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8200" y="2805113"/>
            <a:ext cx="4857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jargon overwhelms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38200" y="3062288"/>
            <a:ext cx="48577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"Zero-based budgeting." "Sinking funds." Users give up before they start.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647700" y="3578423"/>
            <a:ext cx="5143500" cy="735211"/>
          </a:xfrm>
          <a:prstGeom prst="roundRect">
            <a:avLst>
              <a:gd name="adj" fmla="val 10364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200" y="3730823"/>
            <a:ext cx="4857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450"/>
              </a:spcAft>
              <a:buNone/>
            </a:pPr>
            <a:r>
              <a:rPr lang="en-US" sz="11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Tools, not coaches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838200" y="3987998"/>
            <a:ext cx="48577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apps track money brilliantly but do not guide behaviour change.</a:t>
            </a:r>
            <a:endParaRPr lang="en-US" sz="975" dirty="0"/>
          </a:p>
        </p:txBody>
      </p:sp>
      <p:pic>
        <p:nvPicPr>
          <p:cNvPr id="13" name="Image 0" descr="/tmp/rasterized-gradient-392093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1751707"/>
            <a:ext cx="2667000" cy="236383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19454" y="1980307"/>
            <a:ext cx="1244495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6302502" y="3062288"/>
            <a:ext cx="225399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60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Kiwis feel stressed about their finances at least sometimes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35638" y="3740348"/>
            <a:ext cx="182347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Bef>
                <a:spcPts val="1200"/>
              </a:spcBef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Financial Services Council NZ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686098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92226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865114"/>
            <a:ext cx="468332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living crisis is real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8200" y="2089845"/>
            <a:ext cx="468332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Kiwis are feeling the squeeze more than ever. Financial stress is affecting nearly everyone.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7700" y="2440335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8200" y="2383185"/>
            <a:ext cx="493547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 API landscape transformed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8200" y="2607915"/>
            <a:ext cx="493547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2025: NZ Consumer Data Right (CDR) legislation. ANZ, ASB, BNZ, Westpac now have official open banking APIs.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7700" y="311839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200" y="3061246"/>
            <a:ext cx="476135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 financial awareness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38200" y="3285976"/>
            <a:ext cx="47613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pandemic was a wake-up call. People want to be prepared and understand their money.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7700" y="363646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8200" y="3579316"/>
            <a:ext cx="383230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Generational shift in money conversations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8200" y="3804047"/>
            <a:ext cx="38323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Millennials and Gen Z are more open about money. The taboo is breaking.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05500" y="1371898"/>
            <a:ext cx="2857500" cy="3085505"/>
          </a:xfrm>
          <a:prstGeom prst="roundRect">
            <a:avLst>
              <a:gd name="adj" fmla="val 400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96000" y="1562398"/>
            <a:ext cx="252603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900"/>
              </a:spcAft>
              <a:buNone/>
            </a:pPr>
            <a:r>
              <a:rPr lang="en-US" sz="97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AKAHU PARTNERSHIP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6096000" y="2002334"/>
            <a:ext cx="252603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Akahu was one of the first to receive CDR accreditation. They have moved from credential-scraping to official APIs.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0" y="2783384"/>
            <a:ext cx="2476500" cy="723602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security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data quality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backing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96000" y="3816548"/>
            <a:ext cx="2476500" cy="0"/>
          </a:xfrm>
          <a:prstGeom prst="line">
            <a:avLst/>
          </a:prstGeom>
          <a:noFill/>
          <a:ln w="9525">
            <a:solidFill>
              <a:srgbClr val="B8D4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96000" y="3973711"/>
            <a:ext cx="252603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will not last forever. The opportunity is now.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902940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- Meet Remy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22040"/>
            <a:ext cx="827760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600"/>
              </a:spcBef>
              <a:buNone/>
            </a:pPr>
            <a:r>
              <a:rPr lang="en-US" sz="12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"You're in control here - I'm just here to guide you."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7700" y="1878211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0426" y="1948755"/>
            <a:ext cx="9730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885801"/>
            <a:ext cx="55572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Calm, not anxious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43000" y="2091482"/>
            <a:ext cx="555726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5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and blue colours - no red warnings. "Still to fund" not "over budget."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7700" y="2373511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0426" y="2444055"/>
            <a:ext cx="9730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43000" y="2381101"/>
            <a:ext cx="55572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bank integration via Akahu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43000" y="2586782"/>
            <a:ext cx="555726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5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connections to ANZ, ASB, Westpac, BNZ, Kiwibank and more.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7700" y="2868811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0426" y="2939355"/>
            <a:ext cx="9730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43000" y="2876401"/>
            <a:ext cx="55572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budgeting made simple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43000" y="3082082"/>
            <a:ext cx="555726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5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proven methodology in plain language. No jargon, just clarity.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7700" y="3364111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0426" y="3434655"/>
            <a:ext cx="9730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3000" y="3371701"/>
            <a:ext cx="55572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Coaching, not tracking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43000" y="3577382"/>
            <a:ext cx="555726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5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 guides behaviour change and celebrates progress over perfection.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7700" y="3859411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0426" y="3929955"/>
            <a:ext cx="9730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43000" y="3867001"/>
            <a:ext cx="55572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Multi-income support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43000" y="4072682"/>
            <a:ext cx="555726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5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Weekly, fortnightly, monthly - real Kiwi pay cycles handled.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0" y="1884015"/>
            <a:ext cx="1905000" cy="2350591"/>
          </a:xfrm>
          <a:prstGeom prst="roundRect">
            <a:avLst>
              <a:gd name="adj" fmla="val 600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334250" y="2074515"/>
            <a:ext cx="952500" cy="952500"/>
          </a:xfrm>
          <a:prstGeom prst="roundRect">
            <a:avLst>
              <a:gd name="adj" fmla="val 96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525196" y="2230785"/>
            <a:ext cx="5818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36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🥝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7576989" y="3293715"/>
            <a:ext cx="47636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033260" y="3724126"/>
            <a:ext cx="155448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friendly Kiwi financial coach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706338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My Budget Way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106388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path to financial confidence in three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674019"/>
            <a:ext cx="2578150" cy="2762994"/>
          </a:xfrm>
          <a:prstGeom prst="roundRect">
            <a:avLst>
              <a:gd name="adj" fmla="val 443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38200" y="1864519"/>
            <a:ext cx="620464" cy="274290"/>
          </a:xfrm>
          <a:prstGeom prst="roundRect">
            <a:avLst>
              <a:gd name="adj" fmla="val 20836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921669"/>
            <a:ext cx="399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38200" y="2405509"/>
            <a:ext cx="22410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Stash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8200" y="2900809"/>
            <a:ext cx="2241093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$1,000 emergency buffer before anything else. Peace of mind comes first.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838200" y="3724721"/>
            <a:ext cx="2197150" cy="521791"/>
          </a:xfrm>
          <a:prstGeom prst="roundRect">
            <a:avLst>
              <a:gd name="adj" fmla="val 1460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2488" y="3724721"/>
            <a:ext cx="0" cy="521791"/>
          </a:xfrm>
          <a:prstGeom prst="line">
            <a:avLst/>
          </a:prstGeom>
          <a:noFill/>
          <a:ln w="28575">
            <a:solidFill>
              <a:srgbClr val="7A9E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" y="3839021"/>
            <a:ext cx="197877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money is for the car that breaks down, not the sale at Briscoes."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3416350" y="1674019"/>
            <a:ext cx="2578150" cy="2762994"/>
          </a:xfrm>
          <a:prstGeom prst="roundRect">
            <a:avLst>
              <a:gd name="adj" fmla="val 4433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606850" y="1864519"/>
            <a:ext cx="620464" cy="274290"/>
          </a:xfrm>
          <a:prstGeom prst="roundRect">
            <a:avLst>
              <a:gd name="adj" fmla="val 20836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21150" y="1921669"/>
            <a:ext cx="399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06850" y="2405509"/>
            <a:ext cx="22410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Smash Your Debt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06850" y="2900809"/>
            <a:ext cx="2241093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 snowball method - pay off smallest balance first. Quick wins build momentum.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3606850" y="3724721"/>
            <a:ext cx="2197150" cy="521791"/>
          </a:xfrm>
          <a:prstGeom prst="roundRect">
            <a:avLst>
              <a:gd name="adj" fmla="val 1460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621137" y="3724721"/>
            <a:ext cx="0" cy="521791"/>
          </a:xfrm>
          <a:prstGeom prst="line">
            <a:avLst/>
          </a:prstGeom>
          <a:noFill/>
          <a:ln w="28575">
            <a:solidFill>
              <a:srgbClr val="6B9E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725" y="3839021"/>
            <a:ext cx="197877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"Behaviour beats math. Motivation matters more than interest rates."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6184999" y="1766888"/>
            <a:ext cx="2578150" cy="2577257"/>
          </a:xfrm>
          <a:prstGeom prst="roundRect">
            <a:avLst>
              <a:gd name="adj" fmla="val 4435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75499" y="1957388"/>
            <a:ext cx="620464" cy="274290"/>
          </a:xfrm>
          <a:prstGeom prst="roundRect">
            <a:avLst>
              <a:gd name="adj" fmla="val 20836"/>
            </a:avLst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89799" y="2014538"/>
            <a:ext cx="399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75499" y="2498378"/>
            <a:ext cx="22410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75499" y="2993678"/>
            <a:ext cx="224109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3 months of essential expenses. True financial security and freedom.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6375499" y="3631853"/>
            <a:ext cx="2197150" cy="521791"/>
          </a:xfrm>
          <a:prstGeom prst="roundRect">
            <a:avLst>
              <a:gd name="adj" fmla="val 1460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389787" y="3631853"/>
            <a:ext cx="0" cy="521791"/>
          </a:xfrm>
          <a:prstGeom prst="line">
            <a:avLst/>
          </a:prstGeom>
          <a:noFill/>
          <a:ln w="28575">
            <a:solidFill>
              <a:srgbClr val="D4A85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8374" y="3746153"/>
            <a:ext cx="197877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you're ready for whatever life throws at you."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596354"/>
            <a:ext cx="41873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09600" y="1263104"/>
            <a:ext cx="4953000" cy="1005780"/>
          </a:xfrm>
          <a:prstGeom prst="roundRect">
            <a:avLst>
              <a:gd name="adj" fmla="val 11364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415504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31205" y="1474589"/>
            <a:ext cx="16971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1100" y="1467892"/>
            <a:ext cx="7613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762000" y="1796504"/>
            <a:ext cx="474116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At-a-glance financial health. One screen shows your customisable envelope overview, upcoming bills, and overall budget status.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9600" y="2402235"/>
            <a:ext cx="4953000" cy="1005780"/>
          </a:xfrm>
          <a:prstGeom prst="roundRect">
            <a:avLst>
              <a:gd name="adj" fmla="val 11364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2000" y="255463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1205" y="2613720"/>
            <a:ext cx="16971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1100" y="2607022"/>
            <a:ext cx="12414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Allocation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762000" y="2935635"/>
            <a:ext cx="474116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your money where to go. Set it up once during onboarding, then just manage and adjust as life changes.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9600" y="3541365"/>
            <a:ext cx="4953000" cy="1005780"/>
          </a:xfrm>
          <a:prstGeom prst="roundRect">
            <a:avLst>
              <a:gd name="adj" fmla="val 11364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2000" y="369376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1205" y="3752850"/>
            <a:ext cx="16971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🥝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1100" y="3746153"/>
            <a:ext cx="11013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 Coaching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762000" y="4074765"/>
            <a:ext cx="474116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and encouragement at every step. Remy celebrates your wins and helps you through the tough spots.</a:t>
            </a:r>
            <a:endParaRPr lang="en-US" sz="900" dirty="0"/>
          </a:p>
        </p:txBody>
      </p:sp>
      <p:pic>
        <p:nvPicPr>
          <p:cNvPr id="19" name="Image 0" descr="/tmp/rasterized-gradient-8bd688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3100" y="2097435"/>
            <a:ext cx="3048000" cy="16153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43600" y="2287935"/>
            <a:ext cx="2667000" cy="1234380"/>
          </a:xfrm>
          <a:prstGeom prst="roundRect">
            <a:avLst>
              <a:gd name="adj" fmla="val 92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076950" y="2421285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COACHING MESSAGE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076950" y="2630835"/>
            <a:ext cx="2400300" cy="758130"/>
          </a:xfrm>
          <a:prstGeom prst="roundRect">
            <a:avLst>
              <a:gd name="adj" fmla="val 10051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191250" y="2745135"/>
            <a:ext cx="221513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got this! Your Starter Stash is 60% funded. Keep going!"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91250" y="3141315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50" i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421184"/>
            <a:ext cx="43039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That Matters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821234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achievements that turn financial progress into something you can see and feel proud of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511945"/>
            <a:ext cx="493547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900"/>
              </a:spcAft>
              <a:buNone/>
            </a:pPr>
            <a:r>
              <a:rPr lang="en-US" sz="97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647700" y="1951881"/>
            <a:ext cx="4838700" cy="580876"/>
          </a:xfrm>
          <a:prstGeom prst="roundRect">
            <a:avLst>
              <a:gd name="adj" fmla="val 13118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00100" y="2082254"/>
            <a:ext cx="29101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99704" y="2066181"/>
            <a:ext cx="160988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Begins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99704" y="2271861"/>
            <a:ext cx="16098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onboarding with Remy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647700" y="2628007"/>
            <a:ext cx="4838700" cy="580876"/>
          </a:xfrm>
          <a:prstGeom prst="roundRect">
            <a:avLst>
              <a:gd name="adj" fmla="val 13118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00100" y="2758380"/>
            <a:ext cx="29101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9704" y="2742307"/>
            <a:ext cx="134878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Stash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99704" y="2947988"/>
            <a:ext cx="13487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 emergency fund built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647700" y="3304133"/>
            <a:ext cx="4838700" cy="580876"/>
          </a:xfrm>
          <a:prstGeom prst="roundRect">
            <a:avLst>
              <a:gd name="adj" fmla="val 13118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00100" y="3434507"/>
            <a:ext cx="29101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💪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99704" y="3418433"/>
            <a:ext cx="103773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 Destroyer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99704" y="3624114"/>
            <a:ext cx="10377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off your first debt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647700" y="3980259"/>
            <a:ext cx="4838700" cy="580876"/>
          </a:xfrm>
          <a:prstGeom prst="roundRect">
            <a:avLst>
              <a:gd name="adj" fmla="val 13118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0100" y="4110633"/>
            <a:ext cx="29101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99704" y="4094559"/>
            <a:ext cx="136047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99704" y="4300240"/>
            <a:ext cx="136047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months of expenses saved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5715000" y="1350764"/>
            <a:ext cx="3048000" cy="1335286"/>
          </a:xfrm>
          <a:prstGeom prst="roundRect">
            <a:avLst>
              <a:gd name="adj" fmla="val 856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05500" y="1541264"/>
            <a:ext cx="272034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5905500" y="1809750"/>
            <a:ext cx="27203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Achievements create dopamine hits at exactly the right moments. When someone is struggling to stay motivated, seeing that progress bar fill up keeps them going.</a:t>
            </a:r>
            <a:endParaRPr lang="en-US" sz="900" dirty="0"/>
          </a:p>
        </p:txBody>
      </p:sp>
      <p:pic>
        <p:nvPicPr>
          <p:cNvPr id="25" name="Image 0" descr="/tmp/rasterized-gradient-37e5b0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838450"/>
            <a:ext cx="3048000" cy="100384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905500" y="3028950"/>
            <a:ext cx="27203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 SAYS:</a:t>
            </a:r>
            <a:endParaRPr lang="en-US" sz="825" dirty="0"/>
          </a:p>
        </p:txBody>
      </p:sp>
      <p:sp>
        <p:nvSpPr>
          <p:cNvPr id="27" name="Text 24"/>
          <p:cNvSpPr/>
          <p:nvPr/>
        </p:nvSpPr>
        <p:spPr>
          <a:xfrm>
            <a:off x="5905500" y="3251746"/>
            <a:ext cx="27203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legend! You just unlocked Starter Stash!"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715000" y="3994696"/>
            <a:ext cx="3048000" cy="727621"/>
          </a:xfrm>
          <a:prstGeom prst="roundRect">
            <a:avLst>
              <a:gd name="adj" fmla="val 15709"/>
            </a:avLst>
          </a:prstGeom>
          <a:solidFill>
            <a:srgbClr val="FFFFFF"/>
          </a:solidFill>
          <a:ln w="19050">
            <a:solidFill>
              <a:srgbClr val="D4A85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859399" y="4166146"/>
            <a:ext cx="27592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driver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859399" y="4364236"/>
            <a:ext cx="275920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progress = motivation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439787"/>
            <a:ext cx="49354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the Next Generation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83983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Kids learn to budget before they even have a job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823293"/>
            <a:ext cx="536295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ENVELOPES FOR KIDS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7700" y="2097584"/>
            <a:ext cx="1257300" cy="693390"/>
          </a:xfrm>
          <a:prstGeom prst="roundRect">
            <a:avLst>
              <a:gd name="adj" fmla="val 1098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1713" y="2211884"/>
            <a:ext cx="1049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1713" y="2516684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81200" y="2097584"/>
            <a:ext cx="1257300" cy="693390"/>
          </a:xfrm>
          <a:prstGeom prst="roundRect">
            <a:avLst>
              <a:gd name="adj" fmla="val 1098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85213" y="2211884"/>
            <a:ext cx="1049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85213" y="2516684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4700" y="2097584"/>
            <a:ext cx="1257300" cy="693390"/>
          </a:xfrm>
          <a:prstGeom prst="roundRect">
            <a:avLst>
              <a:gd name="adj" fmla="val 1098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18713" y="2211884"/>
            <a:ext cx="1049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18713" y="2516684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48200" y="2097584"/>
            <a:ext cx="1257300" cy="693390"/>
          </a:xfrm>
          <a:prstGeom prst="roundRect">
            <a:avLst>
              <a:gd name="adj" fmla="val 1098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52213" y="2211884"/>
            <a:ext cx="1049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52213" y="2516684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7700" y="3019574"/>
            <a:ext cx="536295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900"/>
              </a:spcBef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TYPES OF CHORES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7700" y="3293864"/>
            <a:ext cx="2571750" cy="917823"/>
          </a:xfrm>
          <a:prstGeom prst="roundRect">
            <a:avLst>
              <a:gd name="adj" fmla="val 8302"/>
            </a:avLst>
          </a:prstGeom>
          <a:solidFill>
            <a:srgbClr val="FFFFFF"/>
          </a:solidFill>
          <a:ln w="19050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1050" y="3427214"/>
            <a:ext cx="2351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Chores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781050" y="3638550"/>
            <a:ext cx="2351151" cy="43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 beds, doing dishes. Part of being in a family. No payment, but streak tracking and badges.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3333750" y="3293864"/>
            <a:ext cx="2571750" cy="917823"/>
          </a:xfrm>
          <a:prstGeom prst="roundRect">
            <a:avLst>
              <a:gd name="adj" fmla="val 8302"/>
            </a:avLst>
          </a:prstGeom>
          <a:solidFill>
            <a:srgbClr val="FFFFFF"/>
          </a:solidFill>
          <a:ln w="19050">
            <a:solidFill>
              <a:srgbClr val="6B9E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67100" y="3427214"/>
            <a:ext cx="2351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Chores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3467100" y="3638550"/>
            <a:ext cx="2351151" cy="43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 the car, mowing lawn. Earning opportunities. Complete them, add to invoice for parents to pay.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6096000" y="1331268"/>
            <a:ext cx="2667000" cy="1169640"/>
          </a:xfrm>
          <a:prstGeom prst="roundRect">
            <a:avLst>
              <a:gd name="adj" fmla="val 9772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48400" y="1483668"/>
            <a:ext cx="24094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INVOICE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48400" y="1719858"/>
            <a:ext cx="24094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Kids complete extra chores, it adds to their invoice. Parents review and pay. Money distributed to the four envelopes based on family-set percentages.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6096000" y="2615208"/>
            <a:ext cx="2667000" cy="1012478"/>
          </a:xfrm>
          <a:prstGeom prst="roundRect">
            <a:avLst>
              <a:gd name="adj" fmla="val 11289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48400" y="2767608"/>
            <a:ext cx="24094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WISHLIST FEATURE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8400" y="3003798"/>
            <a:ext cx="240944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Kids create wishlists for things they want. They set a goal, see the price, watch their Save envelope grow. Teaches delayed gratification.</a:t>
            </a:r>
            <a:endParaRPr lang="en-US" sz="825" dirty="0"/>
          </a:p>
        </p:txBody>
      </p:sp>
      <p:pic>
        <p:nvPicPr>
          <p:cNvPr id="31" name="Image 0" descr="/tmp/rasterized-gradient-bb5aec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3741986"/>
            <a:ext cx="2667000" cy="961727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248400" y="3894386"/>
            <a:ext cx="24094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248400" y="4111526"/>
            <a:ext cx="2409444" cy="43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time these kids get their first job, they already understand envelope budgeting. We are raising a financially fluent generation.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390227"/>
            <a:ext cx="658710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Money - The Household Hub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79027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features keep families organised and connected - all linking back to budget awareness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281708"/>
            <a:ext cx="2686050" cy="1068288"/>
          </a:xfrm>
          <a:prstGeom prst="roundRect">
            <a:avLst>
              <a:gd name="adj" fmla="val 891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1050" y="1415058"/>
            <a:ext cx="246773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450"/>
              </a:spcAft>
              <a:buNone/>
            </a:pPr>
            <a:r>
              <a:rPr lang="en-US" sz="13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1050" y="1712119"/>
            <a:ext cx="246773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Management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781050" y="1923455"/>
            <a:ext cx="246773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favourites or import by URL. Build your family recipe collection.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3448050" y="1281708"/>
            <a:ext cx="2686050" cy="1068288"/>
          </a:xfrm>
          <a:prstGeom prst="roundRect">
            <a:avLst>
              <a:gd name="adj" fmla="val 891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81400" y="1415058"/>
            <a:ext cx="246773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450"/>
              </a:spcAft>
              <a:buNone/>
            </a:pPr>
            <a:r>
              <a:rPr lang="en-US" sz="13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581400" y="1712119"/>
            <a:ext cx="246773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Planning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3581400" y="1923455"/>
            <a:ext cx="246773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your week visually. Drag recipes onto days. Reduce food waste.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647700" y="2464296"/>
            <a:ext cx="2686050" cy="1068288"/>
          </a:xfrm>
          <a:prstGeom prst="roundRect">
            <a:avLst>
              <a:gd name="adj" fmla="val 891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1050" y="2597646"/>
            <a:ext cx="246773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450"/>
              </a:spcAft>
              <a:buNone/>
            </a:pPr>
            <a:r>
              <a:rPr lang="en-US" sz="13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🛒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1050" y="2894707"/>
            <a:ext cx="246773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Shopping Lists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781050" y="3106043"/>
            <a:ext cx="246773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Auto-categorise by supermarket aisle. In-store mode to tick off items.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3448050" y="2464296"/>
            <a:ext cx="2686050" cy="1068288"/>
          </a:xfrm>
          <a:prstGeom prst="roundRect">
            <a:avLst>
              <a:gd name="adj" fmla="val 891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81400" y="2597646"/>
            <a:ext cx="2467737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450"/>
              </a:spcAft>
              <a:buNone/>
            </a:pPr>
            <a:r>
              <a:rPr lang="en-US" sz="13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81400" y="2894707"/>
            <a:ext cx="246773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Lists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3581400" y="3106043"/>
            <a:ext cx="246773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Packing lists, to-do lists, gift ideas. Flexible list management.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647700" y="3646884"/>
            <a:ext cx="5486400" cy="1106388"/>
          </a:xfrm>
          <a:prstGeom prst="roundRect">
            <a:avLst>
              <a:gd name="adj" fmla="val 8609"/>
            </a:avLst>
          </a:prstGeom>
          <a:solidFill>
            <a:srgbClr val="FFFFFF"/>
          </a:solidFill>
          <a:ln w="19050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00100" y="3799284"/>
            <a:ext cx="528523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450"/>
              </a:spcAft>
              <a:buNone/>
            </a:pPr>
            <a:r>
              <a:rPr lang="en-US" sz="13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🏠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00100" y="4096345"/>
            <a:ext cx="528523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Hub Dashboard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800100" y="4307681"/>
            <a:ext cx="5285232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command centre: task management, chore tracking, birthday reminders, quick access to all Life features.</a:t>
            </a:r>
            <a:endParaRPr lang="en-US" sz="825" dirty="0"/>
          </a:p>
        </p:txBody>
      </p:sp>
      <p:pic>
        <p:nvPicPr>
          <p:cNvPr id="25" name="Image 0" descr="/tmp/rasterized-gradient-9ed0209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1455093"/>
            <a:ext cx="2476500" cy="115059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77000" y="1645593"/>
            <a:ext cx="21374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77000" y="1900833"/>
            <a:ext cx="213741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features make My Budget Mate a daily-use app, not just something you open on payday.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86500" y="2758083"/>
            <a:ext cx="2476500" cy="893118"/>
          </a:xfrm>
          <a:prstGeom prst="roundRect">
            <a:avLst>
              <a:gd name="adj" fmla="val 12798"/>
            </a:avLst>
          </a:prstGeom>
          <a:solidFill>
            <a:srgbClr val="FFFFFF"/>
          </a:solidFill>
          <a:ln w="19050">
            <a:solidFill>
              <a:srgbClr val="D4A85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436614" y="2929533"/>
            <a:ext cx="217627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VISION</a:t>
            </a:r>
            <a:endParaRPr lang="en-US" sz="825" dirty="0"/>
          </a:p>
        </p:txBody>
      </p:sp>
      <p:sp>
        <p:nvSpPr>
          <p:cNvPr id="30" name="Text 27"/>
          <p:cNvSpPr/>
          <p:nvPr/>
        </p:nvSpPr>
        <p:spPr>
          <a:xfrm>
            <a:off x="6436614" y="3133279"/>
            <a:ext cx="2176272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app families open every day to run their household."</a:t>
            </a:r>
            <a:endParaRPr lang="en-US" sz="975" dirty="0"/>
          </a:p>
        </p:txBody>
      </p:sp>
      <p:sp>
        <p:nvSpPr>
          <p:cNvPr id="31" name="Text 28"/>
          <p:cNvSpPr/>
          <p:nvPr/>
        </p:nvSpPr>
        <p:spPr>
          <a:xfrm>
            <a:off x="6286500" y="3803600"/>
            <a:ext cx="2476500" cy="776288"/>
          </a:xfrm>
          <a:prstGeom prst="roundRect">
            <a:avLst>
              <a:gd name="adj" fmla="val 14724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6438900" y="3956000"/>
            <a:ext cx="221513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825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planning reduces food costs. Shopping lists prevent impulse buys. It all connects back to budget awareness.</a:t>
            </a:r>
            <a:endParaRPr lang="en-US" sz="8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322213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Dreams With Deadlines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722263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are not just numbers on a screen - they are dreams with progress bars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251793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ADULTS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7700" y="1564184"/>
            <a:ext cx="3943350" cy="1510457"/>
          </a:xfrm>
          <a:prstGeom prst="roundRect">
            <a:avLst>
              <a:gd name="adj" fmla="val 630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00100" y="1716584"/>
            <a:ext cx="371132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Goals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0100" y="1979414"/>
            <a:ext cx="37113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 to Fiji, a new car, house deposit - create a goal, set a target, watch your progress.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0100" y="2413695"/>
            <a:ext cx="363855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400" y="2527995"/>
            <a:ext cx="6298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 Fund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4114502" y="2527995"/>
            <a:ext cx="21404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914400" y="2731740"/>
            <a:ext cx="3409950" cy="76200"/>
          </a:xfrm>
          <a:prstGeom prst="roundRect">
            <a:avLst>
              <a:gd name="adj" fmla="val 5000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0" descr="/tmp/rasterized-gradient-bf975f5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31740"/>
            <a:ext cx="2045940" cy="762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47700" y="3227040"/>
            <a:ext cx="3943350" cy="887611"/>
          </a:xfrm>
          <a:prstGeom prst="roundRect">
            <a:avLst>
              <a:gd name="adj" fmla="val 10731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0100" y="3379440"/>
            <a:ext cx="371132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Wishlist Feature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0100" y="3642271"/>
            <a:ext cx="37113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items you are saving for before they become a goal. Transforms saving from sacrifice into excitement.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819650" y="1261318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KIDS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819650" y="1573709"/>
            <a:ext cx="3943350" cy="1510457"/>
          </a:xfrm>
          <a:prstGeom prst="roundRect">
            <a:avLst>
              <a:gd name="adj" fmla="val 6306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972050" y="1726109"/>
            <a:ext cx="371132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 Wishlists and Goals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972050" y="1988939"/>
            <a:ext cx="37113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Kids add things they want - a game, new shoes, skateboard. They see the price. They watch their Save envelope grow toward it.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972050" y="2423220"/>
            <a:ext cx="3638550" cy="508546"/>
          </a:xfrm>
          <a:prstGeom prst="roundRect">
            <a:avLst>
              <a:gd name="adj" fmla="val 112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086350" y="2537520"/>
            <a:ext cx="79014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Skateboard</a:t>
            </a:r>
            <a:endParaRPr lang="en-US" sz="825" dirty="0"/>
          </a:p>
        </p:txBody>
      </p:sp>
      <p:sp>
        <p:nvSpPr>
          <p:cNvPr id="23" name="Text 20"/>
          <p:cNvSpPr/>
          <p:nvPr/>
        </p:nvSpPr>
        <p:spPr>
          <a:xfrm>
            <a:off x="8286452" y="2537520"/>
            <a:ext cx="21404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6B9E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825" dirty="0"/>
          </a:p>
        </p:txBody>
      </p:sp>
      <p:sp>
        <p:nvSpPr>
          <p:cNvPr id="24" name="Text 21"/>
          <p:cNvSpPr/>
          <p:nvPr/>
        </p:nvSpPr>
        <p:spPr>
          <a:xfrm>
            <a:off x="5086350" y="2741265"/>
            <a:ext cx="3409950" cy="76200"/>
          </a:xfrm>
          <a:prstGeom prst="roundRect">
            <a:avLst>
              <a:gd name="adj" fmla="val 5000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5" name="Image 1" descr="/tmp/rasterized-gradient-b6bb019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350" y="2741265"/>
            <a:ext cx="1363861" cy="7620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819650" y="3236565"/>
            <a:ext cx="3943350" cy="868561"/>
          </a:xfrm>
          <a:prstGeom prst="roundRect">
            <a:avLst>
              <a:gd name="adj" fmla="val 1096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4972050" y="3388965"/>
            <a:ext cx="371132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Gratification Made Fun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972050" y="3632746"/>
            <a:ext cx="37113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"you cannot have that," it becomes "you are 40% of the way there!" Kids learn saving works.</a:t>
            </a:r>
            <a:endParaRPr lang="en-US" sz="900" dirty="0"/>
          </a:p>
        </p:txBody>
      </p:sp>
      <p:pic>
        <p:nvPicPr>
          <p:cNvPr id="29" name="Image 2" descr="/tmp/rasterized-gradient-230cab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419451"/>
            <a:ext cx="8115300" cy="401836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60857" y="4533751"/>
            <a:ext cx="78889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turn budgeting from restriction into empowerment. You are not saying no - you are saying yes to your future self.</a:t>
            </a:r>
            <a:endParaRPr lang="en-US" sz="9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622548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700" dirty="0"/>
          </a:p>
        </p:txBody>
      </p:sp>
      <p:pic>
        <p:nvPicPr>
          <p:cNvPr id="4" name="Image 0" descr="/tmp/rasterized-gradient-135494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700" y="1448098"/>
            <a:ext cx="2438400" cy="14704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7626" y="1638598"/>
            <a:ext cx="209854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5.3M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17626" y="2354759"/>
            <a:ext cx="209854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60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Kiwis who need better financial tools</a:t>
            </a:r>
            <a:endParaRPr lang="en-US" sz="1050" dirty="0"/>
          </a:p>
        </p:txBody>
      </p:sp>
      <p:pic>
        <p:nvPicPr>
          <p:cNvPr id="7" name="Image 1" descr="/tmp/rasterized-gradient-adb642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1448098"/>
            <a:ext cx="2438400" cy="147042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08426" y="1638598"/>
            <a:ext cx="209854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3408426" y="2354759"/>
            <a:ext cx="209854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60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NZ-specific apps with bank links + coaching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47700" y="3147120"/>
            <a:ext cx="512978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IN THE MARKET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47700" y="3517553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781050" y="3459510"/>
            <a:ext cx="249202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YNAB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no NZ bank connections, US-centric</a:t>
            </a:r>
            <a:endParaRPr lang="en-US" sz="975" dirty="0"/>
          </a:p>
        </p:txBody>
      </p:sp>
      <p:sp>
        <p:nvSpPr>
          <p:cNvPr id="13" name="Text 9"/>
          <p:cNvSpPr/>
          <p:nvPr/>
        </p:nvSpPr>
        <p:spPr>
          <a:xfrm>
            <a:off x="647700" y="3766989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781050" y="3708946"/>
            <a:ext cx="258356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PocketSmith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tracking focused, not coaching</a:t>
            </a:r>
            <a:endParaRPr lang="en-US" sz="975" dirty="0"/>
          </a:p>
        </p:txBody>
      </p:sp>
      <p:sp>
        <p:nvSpPr>
          <p:cNvPr id="15" name="Text 11"/>
          <p:cNvSpPr/>
          <p:nvPr/>
        </p:nvSpPr>
        <p:spPr>
          <a:xfrm>
            <a:off x="647700" y="401642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781050" y="3958382"/>
            <a:ext cx="180359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Goodbudget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no NZ bank links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47700" y="4265861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81050" y="4207818"/>
            <a:ext cx="211342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Spreadsheets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manual, no guidance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5905500" y="1308348"/>
            <a:ext cx="2857500" cy="1611362"/>
          </a:xfrm>
          <a:prstGeom prst="roundRect">
            <a:avLst>
              <a:gd name="adj" fmla="val 7093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096000" y="1498848"/>
            <a:ext cx="25260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096000" y="1754088"/>
            <a:ext cx="2526030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NZ-built budgeting app with envelope method + bank integration + coaching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096000" y="2409230"/>
            <a:ext cx="252603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75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combines all three. We own this space.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5905500" y="3072110"/>
            <a:ext cx="2857500" cy="1448693"/>
          </a:xfrm>
          <a:prstGeom prst="roundRect">
            <a:avLst>
              <a:gd name="adj" fmla="val 789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6096000" y="3262610"/>
            <a:ext cx="25260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NZ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6096000" y="3517850"/>
            <a:ext cx="252603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 uses similar pay cycles and has the same gap. Our proven model can expand to a 30M+ addressable market.</a:t>
            </a:r>
            <a:endParaRPr lang="en-US" sz="975" dirty="0"/>
          </a:p>
        </p:txBody>
      </p:sp>
      <p:sp>
        <p:nvSpPr>
          <p:cNvPr id="26" name="Text 22"/>
          <p:cNvSpPr/>
          <p:nvPr/>
        </p:nvSpPr>
        <p:spPr>
          <a:xfrm>
            <a:off x="6096000" y="4170313"/>
            <a:ext cx="25260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750"/>
              </a:spcBef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Trans-Tasman opportunity is real.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640259"/>
            <a:ext cx="42262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571500" y="964109"/>
            <a:ext cx="84330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the only solution that ticks every box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71500" y="1390799"/>
            <a:ext cx="8267700" cy="2565797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9525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1025" y="1400324"/>
            <a:ext cx="8248650" cy="285750"/>
          </a:xfrm>
          <a:prstGeom prst="rect">
            <a:avLst/>
          </a:prstGeom>
          <a:solidFill>
            <a:srgbClr val="5A7E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6275" y="1476524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971675" y="1400324"/>
            <a:ext cx="857250" cy="28575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021395" y="1476524"/>
            <a:ext cx="7578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Budget Mate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032951" y="1476524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YNAB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51148" y="1476524"/>
            <a:ext cx="6606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PocketSmith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766024" y="1476524"/>
            <a:ext cx="6120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Goodbudget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81025" y="1965127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275" y="1756470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Bank Integration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971675" y="1686074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021395" y="1743224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32951" y="1743224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51148" y="1743224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66024" y="1743224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1025" y="2248942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275" y="2040285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Budgeting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71675" y="1969889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021395" y="2027039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32951" y="2027039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51148" y="2027039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6024" y="2027039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1025" y="2532757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275" y="2324100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Coaching/Guidance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971675" y="2253704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021395" y="2310854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32951" y="2310854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51148" y="2310854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66024" y="2310854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1025" y="2816572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275" y="2607915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Multi-Income Support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971675" y="2537520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1395" y="2594670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032951" y="2607915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3851148" y="2594670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66024" y="2607915"/>
            <a:ext cx="6120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1025" y="3100388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275" y="2891730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 UI (No Red)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971675" y="2821335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021395" y="2878485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032951" y="2878485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851148" y="2878485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66024" y="2878485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1025" y="3384203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275" y="317554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NZ-Centric Language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971675" y="3105150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2021395" y="3162300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032951" y="3162300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851148" y="3175546"/>
            <a:ext cx="6606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766024" y="3162300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1025" y="3668018"/>
            <a:ext cx="8248650" cy="0"/>
          </a:xfrm>
          <a:prstGeom prst="line">
            <a:avLst/>
          </a:prstGeom>
          <a:noFill/>
          <a:ln w="9525">
            <a:solidFill>
              <a:srgbClr val="E2EE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275" y="3459361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Kids Module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71675" y="3388965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2021395" y="3446115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032951" y="3446115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851148" y="3446115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766024" y="3446115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6275" y="3743176"/>
            <a:ext cx="10687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System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1971675" y="3672780"/>
            <a:ext cx="857250" cy="274290"/>
          </a:xfrm>
          <a:prstGeom prst="rect">
            <a:avLst/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2021395" y="3729930"/>
            <a:ext cx="7578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032951" y="3729930"/>
            <a:ext cx="56349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851148" y="3729930"/>
            <a:ext cx="6606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766024" y="3729930"/>
            <a:ext cx="61207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00" dirty="0"/>
          </a:p>
        </p:txBody>
      </p:sp>
      <p:pic>
        <p:nvPicPr>
          <p:cNvPr id="68" name="Image 0" descr="/tmp/rasterized-gradient-de6fb7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4204246"/>
            <a:ext cx="8267700" cy="298996"/>
          </a:xfrm>
          <a:prstGeom prst="rect">
            <a:avLst/>
          </a:prstGeom>
        </p:spPr>
      </p:pic>
      <p:sp>
        <p:nvSpPr>
          <p:cNvPr id="69" name="Text 66"/>
          <p:cNvSpPr/>
          <p:nvPr/>
        </p:nvSpPr>
        <p:spPr>
          <a:xfrm>
            <a:off x="624840" y="4280446"/>
            <a:ext cx="81610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specifically for Kiwis who have been underserved by US-centric tools</a:t>
            </a:r>
            <a:endParaRPr lang="en-US" sz="8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42355"/>
            <a:ext cx="418738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Now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104305"/>
            <a:ext cx="1808708" cy="203746"/>
          </a:xfrm>
          <a:prstGeom prst="roundRect">
            <a:avLst>
              <a:gd name="adj" fmla="val 74799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04850" y="1132880"/>
            <a:ext cx="165057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STATUS: OPEN BETA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44068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 COMPLETE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609600" y="2480221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1421" y="2492573"/>
            <a:ext cx="895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857250" y="2485876"/>
            <a:ext cx="248868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budgeting with multi-income allocation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9600" y="2708821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421" y="2721173"/>
            <a:ext cx="895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857250" y="2714476"/>
            <a:ext cx="155554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bank integration via Akahu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600" y="2937421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1421" y="2949773"/>
            <a:ext cx="895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857250" y="2943076"/>
            <a:ext cx="200928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 coaching throughout onboarding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9600" y="3166021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1421" y="3178373"/>
            <a:ext cx="895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857250" y="3171676"/>
            <a:ext cx="184488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card tracking and debt payoff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3394621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1421" y="3406973"/>
            <a:ext cx="895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857250" y="3400276"/>
            <a:ext cx="16848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reconciliation system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9600" y="3623221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1421" y="3635573"/>
            <a:ext cx="895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857250" y="3628876"/>
            <a:ext cx="1871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"Pays Until Due" bill urgency feature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34100" y="1612850"/>
            <a:ext cx="2667000" cy="1176933"/>
          </a:xfrm>
          <a:prstGeom prst="roundRect">
            <a:avLst>
              <a:gd name="adj" fmla="val 809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67450" y="1746200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7450" y="1955750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+ React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6267450" y="2140446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(PostgreSQL + Auth)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6267450" y="2325142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Akahu API for bank feeds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6267450" y="250983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hosting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6134100" y="2904083"/>
            <a:ext cx="2667000" cy="788491"/>
          </a:xfrm>
          <a:prstGeom prst="roundRect">
            <a:avLst>
              <a:gd name="adj" fmla="val 12080"/>
            </a:avLst>
          </a:prstGeom>
          <a:solidFill>
            <a:srgbClr val="FFFFFF"/>
          </a:solidFill>
          <a:ln w="19050">
            <a:solidFill>
              <a:srgbClr val="7A9E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86500" y="3056483"/>
            <a:ext cx="24094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SCALE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86500" y="3246983"/>
            <a:ext cx="240944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built for growth. Investment needed to accelerate user acquisition.</a:t>
            </a:r>
            <a:endParaRPr lang="en-US" sz="825" dirty="0"/>
          </a:p>
        </p:txBody>
      </p:sp>
      <p:pic>
        <p:nvPicPr>
          <p:cNvPr id="34" name="Image 0" descr="/tmp/rasterized-gradient-53c2ac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4100" y="3806875"/>
            <a:ext cx="2667000" cy="594271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6224016" y="3921175"/>
            <a:ext cx="24871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MILESTONE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6224016" y="4073575"/>
            <a:ext cx="248716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Active Users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837158"/>
            <a:ext cx="46051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Signs of Product-Market Fit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09600" y="1552724"/>
            <a:ext cx="56349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09600" y="1813620"/>
            <a:ext cx="1778050" cy="720030"/>
          </a:xfrm>
          <a:prstGeom prst="roundRect">
            <a:avLst>
              <a:gd name="adj" fmla="val 1058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8406" y="1927920"/>
            <a:ext cx="15804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08406" y="2286000"/>
            <a:ext cx="15804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users active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82900" y="1813620"/>
            <a:ext cx="1778050" cy="720030"/>
          </a:xfrm>
          <a:prstGeom prst="roundRect">
            <a:avLst>
              <a:gd name="adj" fmla="val 1058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581705" y="1927920"/>
            <a:ext cx="15804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[X]%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581705" y="2286000"/>
            <a:ext cx="15804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onboarding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356199" y="1813620"/>
            <a:ext cx="1778050" cy="720030"/>
          </a:xfrm>
          <a:prstGeom prst="roundRect">
            <a:avLst>
              <a:gd name="adj" fmla="val 1058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55005" y="1927920"/>
            <a:ext cx="158043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455005" y="2286000"/>
            <a:ext cx="15804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Sessions/week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09600" y="2705100"/>
            <a:ext cx="56349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Bef>
                <a:spcPts val="450"/>
              </a:spcBef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ARE SAYING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609600" y="2965996"/>
            <a:ext cx="5524500" cy="54099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2965996"/>
            <a:ext cx="0" cy="540990"/>
          </a:xfrm>
          <a:prstGeom prst="line">
            <a:avLst/>
          </a:prstGeom>
          <a:noFill/>
          <a:ln w="28575">
            <a:solidFill>
              <a:srgbClr val="7A9E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2475" y="3061246"/>
            <a:ext cx="53726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"[Add real testimonial here]"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52475" y="3278386"/>
            <a:ext cx="53726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User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09600" y="3621286"/>
            <a:ext cx="5524500" cy="54099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3888" y="3621286"/>
            <a:ext cx="0" cy="540990"/>
          </a:xfrm>
          <a:prstGeom prst="line">
            <a:avLst/>
          </a:prstGeom>
          <a:noFill/>
          <a:ln w="28575">
            <a:solidFill>
              <a:srgbClr val="6B9E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2475" y="3716536"/>
            <a:ext cx="53726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"[Add real testimonial here]"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52475" y="3933676"/>
            <a:ext cx="53726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User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324600" y="1408658"/>
            <a:ext cx="2476500" cy="1074390"/>
          </a:xfrm>
          <a:prstGeom prst="roundRect">
            <a:avLst>
              <a:gd name="adj" fmla="val 8865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35852" y="1542008"/>
            <a:ext cx="22539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b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WAITLIST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435852" y="1732508"/>
            <a:ext cx="22539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6B9E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[X]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435852" y="2216348"/>
            <a:ext cx="22539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up for open beta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324600" y="2597348"/>
            <a:ext cx="2476500" cy="1072902"/>
          </a:xfrm>
          <a:prstGeom prst="roundRect">
            <a:avLst>
              <a:gd name="adj" fmla="val 8878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57950" y="2730698"/>
            <a:ext cx="22539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457950" y="2940248"/>
            <a:ext cx="2209800" cy="596652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algn="l" marL="66675" indent="-66675">
              <a:lnSpc>
                <a:spcPts val="1167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completing The My Budget Way</a:t>
            </a:r>
            <a:endParaRPr lang="en-US" sz="750" dirty="0"/>
          </a:p>
          <a:p>
            <a:pPr algn="l" marL="66675" indent="-66675">
              <a:lnSpc>
                <a:spcPts val="1167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unlock rates show engagement</a:t>
            </a:r>
            <a:endParaRPr lang="en-US" sz="750" dirty="0"/>
          </a:p>
          <a:p>
            <a:pPr algn="l" marL="66675" indent="-66675">
              <a:lnSpc>
                <a:spcPts val="1167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improving monthly</a:t>
            </a:r>
            <a:endParaRPr lang="en-US" sz="750" dirty="0"/>
          </a:p>
        </p:txBody>
      </p:sp>
      <p:pic>
        <p:nvPicPr>
          <p:cNvPr id="30" name="Image 0" descr="/tmp/rasterized-gradient-c78a7a3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600" y="3784550"/>
            <a:ext cx="2476500" cy="521791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438900" y="3898850"/>
            <a:ext cx="2292858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are small, but engagement is real. Users stick with it.</a:t>
            </a:r>
            <a:endParaRPr lang="en-US" sz="8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672703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Will Grow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20403"/>
            <a:ext cx="2476500" cy="2017216"/>
          </a:xfrm>
          <a:prstGeom prst="roundRect">
            <a:avLst>
              <a:gd name="adj" fmla="val 5666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510903"/>
            <a:ext cx="21374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CUSTOMER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38200" y="1766143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Sarah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838200" y="2015579"/>
            <a:ext cx="21374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Nurse, teacher, or office worker earning decent money but living payday to payday. She has tried budgeting before and failed. She thinks she is "bad with money."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38200" y="2987129"/>
            <a:ext cx="21374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900"/>
              </a:spcBef>
              <a:buNone/>
            </a:pPr>
            <a:r>
              <a:rPr lang="en-US" sz="900" b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needs coaching, not judgment.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7700" y="3490020"/>
            <a:ext cx="2476500" cy="980777"/>
          </a:xfrm>
          <a:prstGeom prst="roundRect">
            <a:avLst>
              <a:gd name="adj" fmla="val 11654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0100" y="3642420"/>
            <a:ext cx="22151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CHANNEL (FUTURE)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0100" y="3878610"/>
            <a:ext cx="2215134" cy="43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coaches, EAP providers, iwi organisations - we become the platform they use with their clients.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3352800" y="1423392"/>
            <a:ext cx="55184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CHANNELS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52800" y="1697682"/>
            <a:ext cx="2647950" cy="790277"/>
          </a:xfrm>
          <a:prstGeom prst="roundRect">
            <a:avLst>
              <a:gd name="adj" fmla="val 1205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86150" y="1831032"/>
            <a:ext cx="24288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3486150" y="2061418"/>
            <a:ext cx="242887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 posts, social media, SEO targeting "budgeting NZ", "envelope budgeting"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6115050" y="1697682"/>
            <a:ext cx="2647950" cy="790277"/>
          </a:xfrm>
          <a:prstGeom prst="roundRect">
            <a:avLst>
              <a:gd name="adj" fmla="val 1205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8400" y="1831032"/>
            <a:ext cx="24288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Building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6248400" y="2061418"/>
            <a:ext cx="242887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groups, Reddit (r/PersonalFinanceNZ), building a community on The My Budget Way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3352800" y="2602260"/>
            <a:ext cx="2647950" cy="790277"/>
          </a:xfrm>
          <a:prstGeom prst="roundRect">
            <a:avLst>
              <a:gd name="adj" fmla="val 1205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86150" y="2735610"/>
            <a:ext cx="24288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Program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3486150" y="2965996"/>
            <a:ext cx="242887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who invite friends get premium features. Word of mouth from success stories.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6115050" y="2602260"/>
            <a:ext cx="2647950" cy="790277"/>
          </a:xfrm>
          <a:prstGeom prst="roundRect">
            <a:avLst>
              <a:gd name="adj" fmla="val 12053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48400" y="2735610"/>
            <a:ext cx="242887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6248400" y="2965996"/>
            <a:ext cx="242887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Sorted.org.nz, financial literacy programmes, workplace wellness initiatives</a:t>
            </a:r>
            <a:endParaRPr lang="en-US" sz="825" dirty="0"/>
          </a:p>
        </p:txBody>
      </p:sp>
      <p:pic>
        <p:nvPicPr>
          <p:cNvPr id="25" name="Image 0" descr="/tmp/rasterized-gradient-72c6eec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800" y="3583037"/>
            <a:ext cx="5410200" cy="78477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3543300" y="3716387"/>
            <a:ext cx="512978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COST-EFFICIENT GROWTH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543300" y="3914477"/>
            <a:ext cx="51297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coaching philosophy creates word-of-mouth. Happy users tell their friends. Remy helps them succeed, and success stories spread.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30436"/>
            <a:ext cx="418738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992386"/>
            <a:ext cx="835533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Bef>
                <a:spcPts val="450"/>
              </a:spcBef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model building sustainable revenue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609600" y="1688604"/>
            <a:ext cx="1924050" cy="1981498"/>
          </a:xfrm>
          <a:prstGeom prst="roundRect">
            <a:avLst>
              <a:gd name="adj" fmla="val 5941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2000" y="1841004"/>
            <a:ext cx="635198" cy="209550"/>
          </a:xfrm>
          <a:prstGeom prst="roundRect">
            <a:avLst>
              <a:gd name="adj" fmla="val 18182"/>
            </a:avLst>
          </a:prstGeom>
          <a:solidFill>
            <a:srgbClr val="9CA3A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7250" y="1879104"/>
            <a:ext cx="4535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- $0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2000" y="2145804"/>
            <a:ext cx="165163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Forever free basics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2000" y="2408634"/>
            <a:ext cx="1619250" cy="880467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transaction entry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envelopes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reports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 coaching tips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762000" y="3384352"/>
            <a:ext cx="1651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750"/>
              </a:spcBef>
              <a:buNone/>
            </a:pPr>
            <a:r>
              <a:rPr lang="en-US" sz="75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gen and habit building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686050" y="1549896"/>
            <a:ext cx="1962150" cy="2258764"/>
          </a:xfrm>
          <a:prstGeom prst="roundRect">
            <a:avLst>
              <a:gd name="adj" fmla="val 5825"/>
            </a:avLst>
          </a:prstGeom>
          <a:solidFill>
            <a:srgbClr val="E2EEEC"/>
          </a:solidFill>
          <a:ln w="19050">
            <a:solidFill>
              <a:srgbClr val="7A9E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7500" y="1721346"/>
            <a:ext cx="809923" cy="209550"/>
          </a:xfrm>
          <a:prstGeom prst="roundRect">
            <a:avLst>
              <a:gd name="adj" fmla="val 18182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52750" y="1759446"/>
            <a:ext cx="631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- $12/mo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857500" y="2026146"/>
            <a:ext cx="165163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Free, plus: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57500" y="2288977"/>
            <a:ext cx="1619250" cy="1119634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bank sync via Akahu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envelopes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Multi-income allocation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tracking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card management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2857500" y="3503861"/>
            <a:ext cx="1651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750"/>
              </a:spcBef>
              <a:buNone/>
            </a:pPr>
            <a:r>
              <a:rPr lang="en-US" sz="750" i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revenue driver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800600" y="1688604"/>
            <a:ext cx="1924050" cy="1981498"/>
          </a:xfrm>
          <a:prstGeom prst="roundRect">
            <a:avLst>
              <a:gd name="adj" fmla="val 5941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53000" y="1841004"/>
            <a:ext cx="942231" cy="209550"/>
          </a:xfrm>
          <a:prstGeom prst="roundRect">
            <a:avLst>
              <a:gd name="adj" fmla="val 18182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48250" y="1879104"/>
            <a:ext cx="7667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- $18/mo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953000" y="2145804"/>
            <a:ext cx="165163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Pro, plus: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53000" y="2408634"/>
            <a:ext cx="1619250" cy="880467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Kids Module (up to 4 children)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Chores and pocket money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features (shopping, todos)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dashboard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4953000" y="3384352"/>
            <a:ext cx="1651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750"/>
              </a:spcBef>
              <a:buNone/>
            </a:pPr>
            <a:r>
              <a:rPr lang="en-US" sz="750" i="1" dirty="0">
                <a:solidFill>
                  <a:srgbClr val="5A8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upsell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877050" y="1470422"/>
            <a:ext cx="1924050" cy="2417862"/>
          </a:xfrm>
          <a:prstGeom prst="roundRect">
            <a:avLst>
              <a:gd name="adj" fmla="val 5941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29450" y="1622822"/>
            <a:ext cx="1090166" cy="209550"/>
          </a:xfrm>
          <a:prstGeom prst="roundRect">
            <a:avLst>
              <a:gd name="adj" fmla="val 18182"/>
            </a:avLst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24700" y="1660922"/>
            <a:ext cx="9176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COACHING - Future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029450" y="1927622"/>
            <a:ext cx="165163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Family, plus: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29450" y="2377083"/>
            <a:ext cx="1619250" cy="1130201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to certified budget coaches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sessions using My Budget Mate</a:t>
            </a:r>
            <a:endParaRPr lang="en-US" sz="825" dirty="0"/>
          </a:p>
          <a:p>
            <a:pPr algn="l" marL="66675" indent="-66675">
              <a:lnSpc>
                <a:spcPts val="1283"/>
              </a:lnSpc>
              <a:spcAft>
                <a:spcPts val="300"/>
              </a:spcAft>
              <a:buSzPct val="100000"/>
              <a:buChar char="•"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revenue from coaching orgs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7029450" y="3602534"/>
            <a:ext cx="1651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750"/>
              </a:spcBef>
              <a:buNone/>
            </a:pPr>
            <a:r>
              <a:rPr lang="en-US" sz="750" i="1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revenue stream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1659" y="4174034"/>
            <a:ext cx="69663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LTV:CAC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61659" y="4326434"/>
            <a:ext cx="69663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3:1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572083" y="4174034"/>
            <a:ext cx="813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Revenue/User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572083" y="4326434"/>
            <a:ext cx="81367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~$120/year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96746" y="4174034"/>
            <a:ext cx="98263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Conversion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596746" y="4326434"/>
            <a:ext cx="98263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free to pro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788905" y="4174034"/>
            <a:ext cx="9627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@ 10k users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788905" y="4326434"/>
            <a:ext cx="96274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$180k ARR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740718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140768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Household Operating System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689348"/>
            <a:ext cx="1905000" cy="1987600"/>
          </a:xfrm>
          <a:prstGeom prst="roundRect">
            <a:avLst>
              <a:gd name="adj" fmla="val 6000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9150" y="1860798"/>
            <a:ext cx="1480542" cy="260896"/>
          </a:xfrm>
          <a:prstGeom prst="roundRect">
            <a:avLst>
              <a:gd name="adj" fmla="val 21905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3450" y="1917948"/>
            <a:ext cx="12769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- Core Budgeting ✓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819150" y="2235994"/>
            <a:ext cx="1562100" cy="126950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budgeting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integration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Remy coaching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cards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05100" y="1689348"/>
            <a:ext cx="1905000" cy="1987600"/>
          </a:xfrm>
          <a:prstGeom prst="roundRect">
            <a:avLst>
              <a:gd name="adj" fmla="val 6000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76550" y="1860798"/>
            <a:ext cx="1346597" cy="260896"/>
          </a:xfrm>
          <a:prstGeom prst="roundRect">
            <a:avLst>
              <a:gd name="adj" fmla="val 21905"/>
            </a:avLst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990850" y="1917948"/>
            <a:ext cx="114035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2026 - Kids Module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2876550" y="2235994"/>
            <a:ext cx="1562100" cy="126950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profiles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Chores and rewards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 money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system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 bank links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62500" y="1689348"/>
            <a:ext cx="1905000" cy="1987600"/>
          </a:xfrm>
          <a:prstGeom prst="roundRect">
            <a:avLst>
              <a:gd name="adj" fmla="val 6000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33950" y="1860798"/>
            <a:ext cx="1375916" cy="260896"/>
          </a:xfrm>
          <a:prstGeom prst="roundRect">
            <a:avLst>
              <a:gd name="adj" fmla="val 21905"/>
            </a:avLst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48250" y="1917948"/>
            <a:ext cx="1170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2026 - Life Features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4933950" y="2235994"/>
            <a:ext cx="1562100" cy="126950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lists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management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planning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collection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sync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19900" y="1670298"/>
            <a:ext cx="1943100" cy="20257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10400" y="1860798"/>
            <a:ext cx="1439763" cy="260896"/>
          </a:xfrm>
          <a:prstGeom prst="roundRect">
            <a:avLst>
              <a:gd name="adj" fmla="val 21905"/>
            </a:avLst>
          </a:prstGeom>
          <a:solidFill>
            <a:srgbClr val="5A7E7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24700" y="1917948"/>
            <a:ext cx="123538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2026 - Household OS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7010400" y="2235994"/>
            <a:ext cx="1562100" cy="126950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expansion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app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platform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negotiation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insights</a:t>
            </a:r>
            <a:endParaRPr lang="en-US" sz="900" dirty="0"/>
          </a:p>
        </p:txBody>
      </p:sp>
      <p:pic>
        <p:nvPicPr>
          <p:cNvPr id="21" name="Image 0" descr="/tmp/rasterized-gradient-a1a6d6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700" y="4000798"/>
            <a:ext cx="8115300" cy="40183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60857" y="4115098"/>
            <a:ext cx="788898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app families open every day to run their household - money, meals, and more."</a:t>
            </a:r>
            <a:endParaRPr lang="en-US" sz="9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959197"/>
            <a:ext cx="42553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Money, Your Privacy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5924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everything when it comes to finances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2065883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6430" y="2128689"/>
            <a:ext cx="26672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00150" y="2065883"/>
            <a:ext cx="47605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300"/>
              </a:spcAft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Bank Access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200150" y="2304008"/>
            <a:ext cx="476059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connect through Akahu - the same provider used by ANZ and other major institutions. We can see your transactions, but we can never move your money.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7700" y="2757339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6430" y="2820144"/>
            <a:ext cx="26672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200150" y="2757339"/>
            <a:ext cx="47605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300"/>
              </a:spcAft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Bank-Grade Encryption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00150" y="2995464"/>
            <a:ext cx="476059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256-bit encryption protects your data in transit and at rest. The same security your bank uses.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7700" y="3448794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6430" y="3511600"/>
            <a:ext cx="26672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🇳🇿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00150" y="3448794"/>
            <a:ext cx="47605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300"/>
              </a:spcAft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NZ-Hosted Data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1200150" y="3686919"/>
            <a:ext cx="476059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stays in the New Zealand/Australia region. We are not shipping your financial information overseas.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96000" y="1888778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174730" y="1951583"/>
            <a:ext cx="26672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648450" y="1888778"/>
            <a:ext cx="21568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300"/>
              </a:spcAft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First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648450" y="2126903"/>
            <a:ext cx="2156841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never sell your data. Ever. We make money from subscriptions, not from selling you to advertisers.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96000" y="2740223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4730" y="2803029"/>
            <a:ext cx="266721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48450" y="2740223"/>
            <a:ext cx="21568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300"/>
              </a:spcAft>
              <a:buNone/>
            </a:pPr>
            <a:r>
              <a:rPr lang="en-US" sz="112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Two-Factor Authentication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648450" y="2978348"/>
            <a:ext cx="215684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2FA for users who want extra security on their accounts.</a:t>
            </a:r>
            <a:endParaRPr lang="en-US" sz="900" dirty="0"/>
          </a:p>
        </p:txBody>
      </p:sp>
      <p:pic>
        <p:nvPicPr>
          <p:cNvPr id="25" name="Image 0" descr="/tmp/rasterized-gradient-0c7ea07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3507879"/>
            <a:ext cx="2667000" cy="676275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248400" y="3660279"/>
            <a:ext cx="240944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takes years to build and seconds to lose. We take that seriously.</a:t>
            </a:r>
            <a:endParaRPr lang="en-US" sz="9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552896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Profit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952946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building a business - but we are also on a mission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482477"/>
            <a:ext cx="5410200" cy="1413421"/>
          </a:xfrm>
          <a:prstGeom prst="roundRect">
            <a:avLst>
              <a:gd name="adj" fmla="val 8087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9150" y="1653927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COST OF FINANCIAL STRESS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9150" y="1909167"/>
            <a:ext cx="1543943" cy="350490"/>
          </a:xfrm>
          <a:prstGeom prst="roundRect">
            <a:avLst>
              <a:gd name="adj" fmla="val 2174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52500" y="2004417"/>
            <a:ext cx="13027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 breakdowns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77393" y="1909167"/>
            <a:ext cx="1448544" cy="350490"/>
          </a:xfrm>
          <a:prstGeom prst="roundRect">
            <a:avLst>
              <a:gd name="adj" fmla="val 2174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10743" y="2004417"/>
            <a:ext cx="120548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struggles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40237" y="1909167"/>
            <a:ext cx="1639044" cy="350490"/>
          </a:xfrm>
          <a:prstGeom prst="roundRect">
            <a:avLst>
              <a:gd name="adj" fmla="val 2174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73587" y="2004417"/>
            <a:ext cx="13997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workplace productivity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9150" y="2373957"/>
            <a:ext cx="1677144" cy="350490"/>
          </a:xfrm>
          <a:prstGeom prst="roundRect">
            <a:avLst>
              <a:gd name="adj" fmla="val 2174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2500" y="2469207"/>
            <a:ext cx="143865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Generational poverty cycles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7700" y="3048298"/>
            <a:ext cx="55184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CHANGING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7700" y="3417838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0100" y="3360688"/>
            <a:ext cx="536295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the taboo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Money is the last taboo in NZ. We are creating a space where people can talk openly without shame.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647700" y="385956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0100" y="3802410"/>
            <a:ext cx="536295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Generational impact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With the Kids Module, we are raising children who understand money before they earn it.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647700" y="4301282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00100" y="4244132"/>
            <a:ext cx="5362956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coaching</a:t>
            </a:r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Remy is here for everyone - free users included. Good guidance should not be a luxury.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6286500" y="1712863"/>
            <a:ext cx="2476500" cy="1594693"/>
          </a:xfrm>
          <a:prstGeom prst="roundRect">
            <a:avLst>
              <a:gd name="adj" fmla="val 7168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57950" y="1884313"/>
            <a:ext cx="21762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PARTNERSHIPS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57950" y="2139553"/>
            <a:ext cx="2133600" cy="996553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Sorted.org.nz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literacy programmes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Iwi organisations</a:t>
            </a:r>
            <a:endParaRPr lang="en-US" sz="900" dirty="0"/>
          </a:p>
          <a:p>
            <a:pPr algn="l" marL="76200" indent="-76200">
              <a:lnSpc>
                <a:spcPts val="1400"/>
              </a:lnSpc>
              <a:spcAft>
                <a:spcPts val="450"/>
              </a:spcAft>
              <a:buSzPct val="100000"/>
              <a:buChar char="•"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initiatives</a:t>
            </a:r>
            <a:endParaRPr lang="en-US" sz="900" dirty="0"/>
          </a:p>
        </p:txBody>
      </p:sp>
      <p:pic>
        <p:nvPicPr>
          <p:cNvPr id="25" name="Image 0" descr="/tmp/rasterized-gradient-ba038ed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3459956"/>
            <a:ext cx="2476500" cy="90011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57950" y="3631406"/>
            <a:ext cx="2176272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not just building an app. We are trying to change how New Zealand relates to money.</a:t>
            </a:r>
            <a:endParaRPr lang="en-US" sz="97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6B9EC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434876"/>
            <a:ext cx="41485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Eyes Wide Open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834926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50"/>
              </a:spcBef>
              <a:buNone/>
            </a:pPr>
            <a:r>
              <a:rPr lang="en-US" sz="10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investors know every startup has risks. Here is how we are thinking about ours.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7700" y="1326356"/>
            <a:ext cx="3981450" cy="1051173"/>
          </a:xfrm>
          <a:prstGeom prst="roundRect">
            <a:avLst>
              <a:gd name="adj" fmla="val 9061"/>
            </a:avLst>
          </a:prstGeom>
          <a:solidFill>
            <a:srgbClr val="FFFFFF"/>
          </a:solidFill>
          <a:ln w="9525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0575" y="1469231"/>
            <a:ext cx="117223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Akahu Dependency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3947517" y="1470124"/>
            <a:ext cx="538758" cy="171450"/>
          </a:xfrm>
          <a:prstGeom prst="roundRect">
            <a:avLst>
              <a:gd name="adj" fmla="val 22222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23717" y="1489174"/>
            <a:ext cx="394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9E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90575" y="1718667"/>
            <a:ext cx="37696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</a:t>
            </a:r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rely on Akahu for bank connections.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790575" y="1941463"/>
            <a:ext cx="376961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Strong relationship with Akahu team. Manual entry always available. Watching for alternatives.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647700" y="2491829"/>
            <a:ext cx="3981450" cy="1051173"/>
          </a:xfrm>
          <a:prstGeom prst="roundRect">
            <a:avLst>
              <a:gd name="adj" fmla="val 9061"/>
            </a:avLst>
          </a:prstGeom>
          <a:solidFill>
            <a:srgbClr val="FFFFFF"/>
          </a:solidFill>
          <a:ln w="9525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0575" y="2634704"/>
            <a:ext cx="73670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3947517" y="2635597"/>
            <a:ext cx="538758" cy="171450"/>
          </a:xfrm>
          <a:prstGeom prst="roundRect">
            <a:avLst>
              <a:gd name="adj" fmla="val 22222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23717" y="2654647"/>
            <a:ext cx="394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9E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90575" y="2884140"/>
            <a:ext cx="37696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</a:t>
            </a:r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Larger players could enter the NZ market.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790575" y="3106936"/>
            <a:ext cx="376961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First-mover advantage. Coaching philosophy is hard to copy. Kids Module creates switching cost.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647700" y="3657302"/>
            <a:ext cx="3981450" cy="1051173"/>
          </a:xfrm>
          <a:prstGeom prst="roundRect">
            <a:avLst>
              <a:gd name="adj" fmla="val 9061"/>
            </a:avLst>
          </a:prstGeom>
          <a:solidFill>
            <a:srgbClr val="FFFFFF"/>
          </a:solidFill>
          <a:ln w="9525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0575" y="3800177"/>
            <a:ext cx="13147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Acquisition Cost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3947517" y="3801070"/>
            <a:ext cx="538758" cy="171450"/>
          </a:xfrm>
          <a:prstGeom prst="roundRect">
            <a:avLst>
              <a:gd name="adj" fmla="val 22222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023717" y="3820120"/>
            <a:ext cx="394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B9E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90575" y="4049613"/>
            <a:ext cx="37696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</a:t>
            </a:r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Paid acquisition can be expensive.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790575" y="4272409"/>
            <a:ext cx="376961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Community-led growth. Referral incentives. Content marketing. B2B channel reduces CAC.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781550" y="1547068"/>
            <a:ext cx="3981450" cy="1051173"/>
          </a:xfrm>
          <a:prstGeom prst="roundRect">
            <a:avLst>
              <a:gd name="adj" fmla="val 9061"/>
            </a:avLst>
          </a:prstGeom>
          <a:solidFill>
            <a:srgbClr val="FFFFFF"/>
          </a:solidFill>
          <a:ln w="9525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24425" y="1689943"/>
            <a:ext cx="37192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8009037" y="1690836"/>
            <a:ext cx="611088" cy="171450"/>
          </a:xfrm>
          <a:prstGeom prst="roundRect">
            <a:avLst>
              <a:gd name="adj" fmla="val 22222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085237" y="1709886"/>
            <a:ext cx="4678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LOW-MED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924425" y="1939379"/>
            <a:ext cx="37696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</a:t>
            </a:r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Users might try and leave.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4924425" y="2162175"/>
            <a:ext cx="376961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Achievement system creates engagement loops. Life features make us daily-use. Kids Module locks in families.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4781550" y="2712541"/>
            <a:ext cx="3981450" cy="1051173"/>
          </a:xfrm>
          <a:prstGeom prst="roundRect">
            <a:avLst>
              <a:gd name="adj" fmla="val 9061"/>
            </a:avLst>
          </a:prstGeom>
          <a:solidFill>
            <a:srgbClr val="FFFFFF"/>
          </a:solidFill>
          <a:ln w="9525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924425" y="2855416"/>
            <a:ext cx="122794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Downturn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8250734" y="2856309"/>
            <a:ext cx="369391" cy="171450"/>
          </a:xfrm>
          <a:prstGeom prst="roundRect">
            <a:avLst>
              <a:gd name="adj" fmla="val 22222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326934" y="2875359"/>
            <a:ext cx="2213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924425" y="3104852"/>
            <a:ext cx="376961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</a:t>
            </a:r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Subscription fatigue in tough times.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4924425" y="3327648"/>
            <a:ext cx="376961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Generous free tier keeps users engaged. Budgeting apps often see increased demand during downturns.</a:t>
            </a:r>
            <a:endParaRPr lang="en-US" sz="825" dirty="0"/>
          </a:p>
        </p:txBody>
      </p:sp>
      <p:pic>
        <p:nvPicPr>
          <p:cNvPr id="35" name="Image 0" descr="/tmp/rasterized-gradient-4cff91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1550" y="3878014"/>
            <a:ext cx="3981450" cy="60960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914900" y="4011364"/>
            <a:ext cx="37890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thought through the risks and have clear mitigation strategies for each.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767209"/>
            <a:ext cx="41485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7700" y="2067074"/>
            <a:ext cx="5181600" cy="1656904"/>
          </a:xfrm>
          <a:prstGeom prst="roundRect">
            <a:avLst>
              <a:gd name="adj" fmla="val 6898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257574"/>
            <a:ext cx="609600" cy="609600"/>
          </a:xfrm>
          <a:prstGeom prst="roundRect">
            <a:avLst>
              <a:gd name="adj" fmla="val 150000"/>
            </a:avLst>
          </a:prstGeom>
          <a:solidFill>
            <a:srgbClr val="7A9E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76610" y="2375743"/>
            <a:ext cx="33943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600200" y="2257574"/>
            <a:ext cx="41193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00200" y="2535585"/>
            <a:ext cx="411937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Product Lead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1600200" y="2785021"/>
            <a:ext cx="41193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[Deb's background and story]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38200" y="3064073"/>
            <a:ext cx="4800600" cy="0"/>
          </a:xfrm>
          <a:prstGeom prst="line">
            <a:avLst/>
          </a:prstGeom>
          <a:noFill/>
          <a:ln w="9525">
            <a:solidFill>
              <a:srgbClr val="B8D4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" y="3183136"/>
            <a:ext cx="489661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SHE IS BUILDING THIS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838200" y="3386882"/>
            <a:ext cx="489661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[Personal story - the struggle that led to the solution, unique insight into the problem]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6096000" y="1376809"/>
            <a:ext cx="27203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TEAM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6096000" y="1618655"/>
            <a:ext cx="2667000" cy="868412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9050">
            <a:solidFill>
              <a:srgbClr val="7A9E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29350" y="1752005"/>
            <a:ext cx="244830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Co-founder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6229350" y="1991916"/>
            <a:ext cx="495449" cy="158055"/>
          </a:xfrm>
          <a:prstGeom prst="roundRect">
            <a:avLst>
              <a:gd name="adj" fmla="val 24106"/>
            </a:avLst>
          </a:prstGeom>
          <a:solidFill>
            <a:srgbClr val="F5E6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86500" y="2010966"/>
            <a:ext cx="3887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8B7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SEEKING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6229350" y="2207121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engineer to scale platform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6096000" y="2582317"/>
            <a:ext cx="2667000" cy="868412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9050">
            <a:solidFill>
              <a:srgbClr val="6B9E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29350" y="2715667"/>
            <a:ext cx="244830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/ Marketing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6229350" y="2955578"/>
            <a:ext cx="495449" cy="158055"/>
          </a:xfrm>
          <a:prstGeom prst="roundRect">
            <a:avLst>
              <a:gd name="adj" fmla="val 24106"/>
            </a:avLst>
          </a:prstGeom>
          <a:solidFill>
            <a:srgbClr val="DDE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286500" y="2974628"/>
            <a:ext cx="3887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6B9E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SEEKING</a:t>
            </a:r>
            <a:endParaRPr lang="en-US" sz="675" dirty="0"/>
          </a:p>
        </p:txBody>
      </p:sp>
      <p:sp>
        <p:nvSpPr>
          <p:cNvPr id="23" name="Text 21"/>
          <p:cNvSpPr/>
          <p:nvPr/>
        </p:nvSpPr>
        <p:spPr>
          <a:xfrm>
            <a:off x="6229350" y="3170783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acquisition and community building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6096000" y="3545979"/>
            <a:ext cx="2667000" cy="868412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9050">
            <a:solidFill>
              <a:srgbClr val="B8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9350" y="3679329"/>
            <a:ext cx="244830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Advisors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6229350" y="3919240"/>
            <a:ext cx="1257598" cy="158055"/>
          </a:xfrm>
          <a:prstGeom prst="roundRect">
            <a:avLst>
              <a:gd name="adj" fmla="val 24106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86500" y="3938290"/>
            <a:ext cx="11661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TO CONVERSATIONS</a:t>
            </a:r>
            <a:endParaRPr lang="en-US" sz="675" dirty="0"/>
          </a:p>
        </p:txBody>
      </p:sp>
      <p:sp>
        <p:nvSpPr>
          <p:cNvPr id="28" name="Text 26"/>
          <p:cNvSpPr/>
          <p:nvPr/>
        </p:nvSpPr>
        <p:spPr>
          <a:xfrm>
            <a:off x="6229350" y="4134445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Fintech, NZ market, consumer apps</a:t>
            </a:r>
            <a:endParaRPr lang="en-US" sz="8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D4A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7700" y="723305"/>
            <a:ext cx="41485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2400" dirty="0"/>
          </a:p>
        </p:txBody>
      </p:sp>
      <p:pic>
        <p:nvPicPr>
          <p:cNvPr id="4" name="Image 0" descr="/tmp/rasterized-gradient-a8cc9c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700" y="1543943"/>
            <a:ext cx="5372100" cy="14705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7151" y="1772543"/>
            <a:ext cx="501319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7151" y="1989683"/>
            <a:ext cx="5013198" cy="56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10"/>
              </a:lnSpc>
              <a:buNone/>
            </a:pPr>
            <a:r>
              <a:rPr lang="en-US" sz="3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$[Amount]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827151" y="2625923"/>
            <a:ext cx="501319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reach product-market fit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7700" y="3338364"/>
            <a:ext cx="547954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825" dirty="0"/>
          </a:p>
        </p:txBody>
      </p:sp>
      <p:sp>
        <p:nvSpPr>
          <p:cNvPr id="9" name="Text 6"/>
          <p:cNvSpPr/>
          <p:nvPr/>
        </p:nvSpPr>
        <p:spPr>
          <a:xfrm>
            <a:off x="647700" y="3580209"/>
            <a:ext cx="1727150" cy="666750"/>
          </a:xfrm>
          <a:prstGeom prst="roundRect">
            <a:avLst>
              <a:gd name="adj" fmla="val 1142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747014" y="3694509"/>
            <a:ext cx="1528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47014" y="3999309"/>
            <a:ext cx="15285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2470100" y="3580209"/>
            <a:ext cx="1727150" cy="666750"/>
          </a:xfrm>
          <a:prstGeom prst="roundRect">
            <a:avLst>
              <a:gd name="adj" fmla="val 1142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569415" y="3694509"/>
            <a:ext cx="1528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569415" y="3999309"/>
            <a:ext cx="15285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4292501" y="3580209"/>
            <a:ext cx="1727150" cy="666750"/>
          </a:xfrm>
          <a:prstGeom prst="roundRect">
            <a:avLst>
              <a:gd name="adj" fmla="val 11429"/>
            </a:avLst>
          </a:prstGeom>
          <a:solidFill>
            <a:srgbClr val="E2EE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391815" y="3694509"/>
            <a:ext cx="1528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391815" y="3999309"/>
            <a:ext cx="15285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286500" y="1332905"/>
            <a:ext cx="25260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5A7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LOOKING FOR</a:t>
            </a:r>
            <a:endParaRPr lang="en-US" sz="825" dirty="0"/>
          </a:p>
        </p:txBody>
      </p:sp>
      <p:sp>
        <p:nvSpPr>
          <p:cNvPr id="19" name="Text 16"/>
          <p:cNvSpPr/>
          <p:nvPr/>
        </p:nvSpPr>
        <p:spPr>
          <a:xfrm>
            <a:off x="6286500" y="1574750"/>
            <a:ext cx="2476500" cy="771227"/>
          </a:xfrm>
          <a:prstGeom prst="roundRect">
            <a:avLst>
              <a:gd name="adj" fmla="val 12350"/>
            </a:avLst>
          </a:prstGeom>
          <a:solidFill>
            <a:srgbClr val="FFFFFF"/>
          </a:solidFill>
          <a:ln w="19050">
            <a:solidFill>
              <a:srgbClr val="D4A85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19850" y="1708100"/>
            <a:ext cx="225399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Angel Investors</a:t>
            </a:r>
            <a:endParaRPr lang="en-US" sz="975" dirty="0"/>
          </a:p>
        </p:txBody>
      </p:sp>
      <p:sp>
        <p:nvSpPr>
          <p:cNvPr id="21" name="Text 18"/>
          <p:cNvSpPr/>
          <p:nvPr/>
        </p:nvSpPr>
        <p:spPr>
          <a:xfrm>
            <a:off x="6419850" y="1919436"/>
            <a:ext cx="225399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Believers in financial wellness and the NZ opportunity</a:t>
            </a:r>
            <a:endParaRPr lang="en-US" sz="825" dirty="0"/>
          </a:p>
        </p:txBody>
      </p:sp>
      <p:sp>
        <p:nvSpPr>
          <p:cNvPr id="22" name="Text 19"/>
          <p:cNvSpPr/>
          <p:nvPr/>
        </p:nvSpPr>
        <p:spPr>
          <a:xfrm>
            <a:off x="6286500" y="2441228"/>
            <a:ext cx="2476500" cy="624632"/>
          </a:xfrm>
          <a:prstGeom prst="roundRect">
            <a:avLst>
              <a:gd name="adj" fmla="val 15249"/>
            </a:avLst>
          </a:prstGeom>
          <a:solidFill>
            <a:srgbClr val="FFFFFF"/>
          </a:solidFill>
          <a:ln w="19050">
            <a:solidFill>
              <a:srgbClr val="7A9E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419850" y="2574578"/>
            <a:ext cx="225399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Partners</a:t>
            </a:r>
            <a:endParaRPr lang="en-US" sz="975" dirty="0"/>
          </a:p>
        </p:txBody>
      </p:sp>
      <p:sp>
        <p:nvSpPr>
          <p:cNvPr id="24" name="Text 21"/>
          <p:cNvSpPr/>
          <p:nvPr/>
        </p:nvSpPr>
        <p:spPr>
          <a:xfrm>
            <a:off x="6419850" y="2785914"/>
            <a:ext cx="22539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Marketing, development, fintech connections</a:t>
            </a:r>
            <a:endParaRPr lang="en-US" sz="825" dirty="0"/>
          </a:p>
        </p:txBody>
      </p:sp>
      <p:sp>
        <p:nvSpPr>
          <p:cNvPr id="25" name="Text 22"/>
          <p:cNvSpPr/>
          <p:nvPr/>
        </p:nvSpPr>
        <p:spPr>
          <a:xfrm>
            <a:off x="6286500" y="3161109"/>
            <a:ext cx="2476500" cy="624632"/>
          </a:xfrm>
          <a:prstGeom prst="roundRect">
            <a:avLst>
              <a:gd name="adj" fmla="val 15249"/>
            </a:avLst>
          </a:prstGeom>
          <a:solidFill>
            <a:srgbClr val="FFFFFF"/>
          </a:solidFill>
          <a:ln w="19050">
            <a:solidFill>
              <a:srgbClr val="6B9E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419850" y="3294459"/>
            <a:ext cx="225399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Introductions</a:t>
            </a:r>
            <a:endParaRPr lang="en-US" sz="975" dirty="0"/>
          </a:p>
        </p:txBody>
      </p:sp>
      <p:sp>
        <p:nvSpPr>
          <p:cNvPr id="27" name="Text 24"/>
          <p:cNvSpPr/>
          <p:nvPr/>
        </p:nvSpPr>
        <p:spPr>
          <a:xfrm>
            <a:off x="6419850" y="3505795"/>
            <a:ext cx="22539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 intro goes a long way</a:t>
            </a:r>
            <a:endParaRPr lang="en-US" sz="825" dirty="0"/>
          </a:p>
        </p:txBody>
      </p:sp>
      <p:pic>
        <p:nvPicPr>
          <p:cNvPr id="28" name="Image 1" descr="/tmp/rasterized-gradient-18e0512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3880991"/>
            <a:ext cx="2476500" cy="577155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378321" y="3995291"/>
            <a:ext cx="22928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Aft>
                <a:spcPts val="225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6378321" y="4157216"/>
            <a:ext cx="229285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paying users in 12 months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15875" y="520154"/>
            <a:ext cx="531210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50"/>
              </a:lnSpc>
              <a:spcAft>
                <a:spcPts val="900"/>
              </a:spcAft>
              <a:buNone/>
            </a:pPr>
            <a:r>
              <a:rPr lang="en-US" sz="3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Help Kiwis Get Sorted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1915875" y="1034504"/>
            <a:ext cx="53121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E2E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calm budget at a time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33500" y="1529804"/>
            <a:ext cx="6477000" cy="1581150"/>
          </a:xfrm>
          <a:prstGeom prst="roundRect">
            <a:avLst>
              <a:gd name="adj" fmla="val 963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57350" y="1758404"/>
            <a:ext cx="5829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13"/>
              </a:lnSpc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three-quarters of Kiwis feel stressed about money. Most will never try a budgeting app because they think they are not 'money people.'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657350" y="2396579"/>
            <a:ext cx="5829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13"/>
              </a:lnSpc>
              <a:spcBef>
                <a:spcPts val="12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change that. We meet people where they are. We coach, not judge. We celebrate progress, not perfection.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3210312" y="3339554"/>
            <a:ext cx="272337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5E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Remy, and I'm in your corner.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76858" y="3808065"/>
            <a:ext cx="10981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E2E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76858" y="4006155"/>
            <a:ext cx="109815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[your@email.com]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9047" y="3867001"/>
            <a:ext cx="9525" cy="2667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870993" y="3808065"/>
            <a:ext cx="126271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E2E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70993" y="4006155"/>
            <a:ext cx="126271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mybudgetmate.co.nz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6125" y="3867001"/>
            <a:ext cx="9525" cy="266700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728292" y="3808065"/>
            <a:ext cx="124009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E2EE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28292" y="4006155"/>
            <a:ext cx="124009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live demo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15255" y="4383286"/>
            <a:ext cx="1513341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Kia ora. Thank you.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My Budget Mate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Budget Mate - Investor Pitch Deck</dc:title>
  <dc:subject>Seed Round Investment Opportunity</dc:subject>
  <dc:creator>Deb - My Budget Mate</dc:creator>
  <cp:lastModifiedBy>Deb - My Budget Mate</cp:lastModifiedBy>
  <cp:revision>1</cp:revision>
  <dcterms:created xsi:type="dcterms:W3CDTF">2026-01-13T04:59:06Z</dcterms:created>
  <dcterms:modified xsi:type="dcterms:W3CDTF">2026-01-13T04:59:06Z</dcterms:modified>
</cp:coreProperties>
</file>