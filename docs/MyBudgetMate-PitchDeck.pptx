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45111" y="563910"/>
            <a:ext cx="1844278" cy="495300"/>
          </a:xfrm>
          <a:prstGeom prst="roundRect">
            <a:avLst>
              <a:gd name="adj" fmla="val 15385"/>
            </a:avLst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59840" y="678210"/>
            <a:ext cx="141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Budget Mate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66504" y="1440210"/>
            <a:ext cx="380149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spcAft>
                <a:spcPts val="1200"/>
              </a:spcAft>
              <a:buNone/>
            </a:pPr>
            <a:r>
              <a:rPr lang="en-US" sz="315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Financial Coach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2863508" y="2145060"/>
            <a:ext cx="36073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2400"/>
              </a:spcAft>
              <a:buNone/>
            </a:pPr>
            <a:r>
              <a:rPr lang="en-US" sz="1500" i="1" dirty="0">
                <a:solidFill>
                  <a:srgbClr val="5A7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Helping Kiwis tell their money where to go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95750" y="2868960"/>
            <a:ext cx="1143000" cy="1143000"/>
          </a:xfrm>
          <a:prstGeom prst="roundRect">
            <a:avLst>
              <a:gd name="adj" fmla="val 80000"/>
            </a:avLst>
          </a:prstGeom>
          <a:solidFill>
            <a:srgbClr val="E2EEEC"/>
          </a:solidFill>
          <a:ln w="28575">
            <a:solidFill>
              <a:srgbClr val="B8D4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82534" y="4392960"/>
            <a:ext cx="17692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- January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6B9E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266700"/>
            <a:ext cx="4478845" cy="34290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1234678"/>
            <a:ext cx="4953000" cy="754261"/>
          </a:xfrm>
          <a:prstGeom prst="rect">
            <a:avLst/>
          </a:prstGeom>
          <a:solidFill>
            <a:srgbClr val="DDEA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0550" y="1234678"/>
            <a:ext cx="0" cy="754261"/>
          </a:xfrm>
          <a:prstGeom prst="line">
            <a:avLst/>
          </a:prstGeom>
          <a:noFill/>
          <a:ln w="38100">
            <a:solidFill>
              <a:srgbClr val="6B9E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" y="1387078"/>
            <a:ext cx="46245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Budgeting apps create anxiety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800100" y="1663303"/>
            <a:ext cx="46245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numbers. Warnings. Shame-based design. Users feel judged, not supported.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71500" y="2141339"/>
            <a:ext cx="4953000" cy="754261"/>
          </a:xfrm>
          <a:prstGeom prst="rect">
            <a:avLst/>
          </a:prstGeom>
          <a:solidFill>
            <a:srgbClr val="DDEA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90550" y="2141339"/>
            <a:ext cx="0" cy="754261"/>
          </a:xfrm>
          <a:prstGeom prst="line">
            <a:avLst/>
          </a:prstGeom>
          <a:noFill/>
          <a:ln w="38100">
            <a:solidFill>
              <a:srgbClr val="6B9E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" y="2293739"/>
            <a:ext cx="46245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Americans, not Kiwis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00100" y="2569964"/>
            <a:ext cx="46245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YNAB has no NZ bank connections. Terminology and tax systems don't translate.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71500" y="3048000"/>
            <a:ext cx="4953000" cy="754261"/>
          </a:xfrm>
          <a:prstGeom prst="rect">
            <a:avLst/>
          </a:prstGeom>
          <a:solidFill>
            <a:srgbClr val="DDEA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90550" y="3048000"/>
            <a:ext cx="0" cy="754261"/>
          </a:xfrm>
          <a:prstGeom prst="line">
            <a:avLst/>
          </a:prstGeom>
          <a:noFill/>
          <a:ln w="38100">
            <a:solidFill>
              <a:srgbClr val="6B9E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" y="3200400"/>
            <a:ext cx="46245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jargon overwhelms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800100" y="3476625"/>
            <a:ext cx="46245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"Zero-based budgeting", "sinking funds" - users give up before they start.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71500" y="3954661"/>
            <a:ext cx="4953000" cy="754261"/>
          </a:xfrm>
          <a:prstGeom prst="rect">
            <a:avLst/>
          </a:prstGeom>
          <a:solidFill>
            <a:srgbClr val="DDEA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90550" y="3954661"/>
            <a:ext cx="0" cy="754261"/>
          </a:xfrm>
          <a:prstGeom prst="line">
            <a:avLst/>
          </a:prstGeom>
          <a:noFill/>
          <a:ln w="38100">
            <a:solidFill>
              <a:srgbClr val="6B9E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" y="4107061"/>
            <a:ext cx="46245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Tools, not coaches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00100" y="4383286"/>
            <a:ext cx="46245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apps track money but don't guide behaviour change.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905500" y="1596628"/>
            <a:ext cx="2667000" cy="2750344"/>
          </a:xfrm>
          <a:prstGeom prst="roundRect">
            <a:avLst>
              <a:gd name="adj" fmla="val 4286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47992" y="1825228"/>
            <a:ext cx="58186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😰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966966" y="2769989"/>
            <a:ext cx="54406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6B9E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112002" y="3371850"/>
            <a:ext cx="225399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Kiwis feel stressed about their finances at least sometimes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410146" y="3985022"/>
            <a:ext cx="16577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900"/>
              </a:spcBef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Financial Services Council NZ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266700"/>
            <a:ext cx="4478845" cy="34290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1557486"/>
            <a:ext cx="2476500" cy="2790527"/>
          </a:xfrm>
          <a:prstGeom prst="roundRect">
            <a:avLst>
              <a:gd name="adj" fmla="val 6154"/>
            </a:avLst>
          </a:prstGeom>
          <a:solidFill>
            <a:srgbClr val="E2EEEC"/>
          </a:solidFill>
          <a:ln w="19050">
            <a:solidFill>
              <a:srgbClr val="B8D4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28750" y="1805136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FFFFFF"/>
          </a:solidFill>
          <a:ln w="28575">
            <a:solidFill>
              <a:srgbClr val="7A9E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9338" y="2871936"/>
            <a:ext cx="202082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5A7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Remy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99338" y="3340447"/>
            <a:ext cx="20208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friendly Kiwi financial coach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99338" y="3780383"/>
            <a:ext cx="202082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"You're in control here - I'm just here to guide you."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52800" y="16383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2EE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24300" y="1638300"/>
            <a:ext cx="37755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not anxious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924300" y="1876425"/>
            <a:ext cx="37755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 and blue colours - no red warnings. "Still to fund" not "over budget".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52800" y="21907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2EE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924300" y="2190750"/>
            <a:ext cx="35423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bank integration via Akahu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3924300" y="2428875"/>
            <a:ext cx="35423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connections to ANZ, ASB, Westpac, BNZ, Kiwibank and more.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52800" y="27432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2EE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24300" y="2743200"/>
            <a:ext cx="30611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 budgeting made simple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924300" y="2981325"/>
            <a:ext cx="30611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methodology, plain language. No jargon, just clarity.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52800" y="32956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2EE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24300" y="3295650"/>
            <a:ext cx="30070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Coaching, not tracking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3924300" y="3533775"/>
            <a:ext cx="30070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Remy guides behaviour change. Progress over perfection.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52800" y="38481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2EE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924300" y="3848100"/>
            <a:ext cx="3000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Multi-income support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3924300" y="4086225"/>
            <a:ext cx="30001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Weekly, fortnightly, monthly - handles real Kiwi pay cycles.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My Budget Way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7700" y="685800"/>
            <a:ext cx="82776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proven path to financial confidence</a:t>
            </a:r>
            <a:endParaRPr lang="en-US" sz="1050" dirty="0"/>
          </a:p>
        </p:txBody>
      </p:sp>
      <p:pic>
        <p:nvPicPr>
          <p:cNvPr id="5" name="Image 0" descr="/tmp/rasterized-gradient-476e83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299716"/>
            <a:ext cx="2603450" cy="3568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3900" y="1547366"/>
            <a:ext cx="533400" cy="533400"/>
          </a:xfrm>
          <a:prstGeom prst="roundRect">
            <a:avLst>
              <a:gd name="adj" fmla="val 171429"/>
            </a:avLst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23900" y="2385566"/>
            <a:ext cx="21503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7A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723900" y="2722662"/>
            <a:ext cx="21503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 Stash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23900" y="3256062"/>
            <a:ext cx="215031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$1,000 emergency buffer before anything else. Peace of mind comes first.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723900" y="4079974"/>
            <a:ext cx="2108150" cy="540841"/>
          </a:xfrm>
          <a:prstGeom prst="roundRect">
            <a:avLst>
              <a:gd name="adj" fmla="val 1408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47725" y="4203799"/>
            <a:ext cx="189771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5A7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money is for the car that breaks down, not the sale at Briscoes."</a:t>
            </a:r>
            <a:endParaRPr lang="en-US" sz="825" dirty="0"/>
          </a:p>
        </p:txBody>
      </p:sp>
      <p:pic>
        <p:nvPicPr>
          <p:cNvPr id="12" name="Image 1" descr="/tmp/rasterized-gradient-a9805f2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200" y="1299716"/>
            <a:ext cx="2603450" cy="35687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17850" y="1547366"/>
            <a:ext cx="533400" cy="533400"/>
          </a:xfrm>
          <a:prstGeom prst="roundRect">
            <a:avLst>
              <a:gd name="adj" fmla="val 171429"/>
            </a:avLst>
          </a:prstGeom>
          <a:solidFill>
            <a:srgbClr val="6B9E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517850" y="2385566"/>
            <a:ext cx="21503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B9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3517850" y="2722662"/>
            <a:ext cx="21503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Smash Your Debt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17850" y="3256062"/>
            <a:ext cx="215031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snowball method - smallest balance first. Quick wins build momentum.</a:t>
            </a:r>
            <a:endParaRPr lang="en-US" sz="975" dirty="0"/>
          </a:p>
        </p:txBody>
      </p:sp>
      <p:sp>
        <p:nvSpPr>
          <p:cNvPr id="17" name="Text 13"/>
          <p:cNvSpPr/>
          <p:nvPr/>
        </p:nvSpPr>
        <p:spPr>
          <a:xfrm>
            <a:off x="3517850" y="4079974"/>
            <a:ext cx="2108150" cy="540841"/>
          </a:xfrm>
          <a:prstGeom prst="roundRect">
            <a:avLst>
              <a:gd name="adj" fmla="val 1408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641675" y="4203799"/>
            <a:ext cx="189771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5A7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"Behaviour beats math. Motivation matters more than interest rates."</a:t>
            </a:r>
            <a:endParaRPr lang="en-US" sz="825" dirty="0"/>
          </a:p>
        </p:txBody>
      </p:sp>
      <p:pic>
        <p:nvPicPr>
          <p:cNvPr id="19" name="Image 2" descr="/tmp/rasterized-gradient-b73b7cb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151" y="1392585"/>
            <a:ext cx="2603450" cy="33830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11801" y="1640235"/>
            <a:ext cx="533400" cy="533400"/>
          </a:xfrm>
          <a:prstGeom prst="roundRect">
            <a:avLst>
              <a:gd name="adj" fmla="val 171429"/>
            </a:avLst>
          </a:prstGeom>
          <a:solidFill>
            <a:srgbClr val="D4A8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6311801" y="2478435"/>
            <a:ext cx="21503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825" dirty="0"/>
          </a:p>
        </p:txBody>
      </p:sp>
      <p:sp>
        <p:nvSpPr>
          <p:cNvPr id="22" name="Text 17"/>
          <p:cNvSpPr/>
          <p:nvPr/>
        </p:nvSpPr>
        <p:spPr>
          <a:xfrm>
            <a:off x="6311801" y="2815530"/>
            <a:ext cx="21503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Net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311801" y="3348930"/>
            <a:ext cx="215031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 months of expenses saved. True financial security and freedom.</a:t>
            </a:r>
            <a:endParaRPr lang="en-US" sz="975" dirty="0"/>
          </a:p>
        </p:txBody>
      </p:sp>
      <p:sp>
        <p:nvSpPr>
          <p:cNvPr id="24" name="Text 19"/>
          <p:cNvSpPr/>
          <p:nvPr/>
        </p:nvSpPr>
        <p:spPr>
          <a:xfrm>
            <a:off x="6311801" y="3987105"/>
            <a:ext cx="2108150" cy="540841"/>
          </a:xfrm>
          <a:prstGeom prst="roundRect">
            <a:avLst>
              <a:gd name="adj" fmla="val 1408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6435626" y="4110930"/>
            <a:ext cx="189771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5A7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"Now you're ready for whatever life throws at you."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266700"/>
            <a:ext cx="4478845" cy="34290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1510605"/>
            <a:ext cx="2228850" cy="1097161"/>
          </a:xfrm>
          <a:prstGeom prst="roundRect">
            <a:avLst>
              <a:gd name="adj" fmla="val 10418"/>
            </a:avLst>
          </a:prstGeom>
          <a:solidFill>
            <a:srgbClr val="E2EE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3522" y="1701105"/>
            <a:ext cx="188480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5A7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5.1M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43522" y="2257276"/>
            <a:ext cx="18848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Kiwis who need better financial tools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90850" y="1430685"/>
            <a:ext cx="2228850" cy="1257151"/>
          </a:xfrm>
          <a:prstGeom prst="roundRect">
            <a:avLst>
              <a:gd name="adj" fmla="val 9092"/>
            </a:avLst>
          </a:prstGeom>
          <a:solidFill>
            <a:srgbClr val="DDEA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62872" y="1621185"/>
            <a:ext cx="188480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6B9E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162872" y="2177355"/>
            <a:ext cx="188480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NZ-specific budgeting apps with bank links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1500" y="2840236"/>
            <a:ext cx="4648200" cy="1634430"/>
          </a:xfrm>
          <a:prstGeom prst="roundRect">
            <a:avLst>
              <a:gd name="adj" fmla="val 6993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2000" y="3030736"/>
            <a:ext cx="43525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in the market: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5895" y="3335536"/>
            <a:ext cx="24780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YNAB - no NZ bank connections, US-centric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965895" y="3592711"/>
            <a:ext cx="25273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PocketSmith - tracking focused, not coaching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965895" y="3849886"/>
            <a:ext cx="184670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Goodbudget - no bank links at all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965895" y="4107061"/>
            <a:ext cx="20643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Spreadsheets - manual, no guidance</a:t>
            </a:r>
            <a:endParaRPr lang="en-US" sz="975" dirty="0"/>
          </a:p>
        </p:txBody>
      </p:sp>
      <p:pic>
        <p:nvPicPr>
          <p:cNvPr id="16" name="Image 0" descr="/tmp/rasterized-gradient-ef2fc1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0" y="1269802"/>
            <a:ext cx="3048000" cy="203061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753100" y="1498402"/>
            <a:ext cx="26426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5753100" y="1747838"/>
            <a:ext cx="264261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NZ-built budgeting app with envelope method + bank integration + coaching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753100" y="2700338"/>
            <a:ext cx="264261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competitor combines all three. We own this space.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5524500" y="3452813"/>
            <a:ext cx="3048000" cy="1182886"/>
          </a:xfrm>
          <a:prstGeom prst="roundRect">
            <a:avLst>
              <a:gd name="adj" fmla="val 9663"/>
            </a:avLst>
          </a:prstGeom>
          <a:solidFill>
            <a:srgbClr val="F5E6C4"/>
          </a:solidFill>
          <a:ln w="19050">
            <a:solidFill>
              <a:srgbClr val="D4A85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734050" y="3662362"/>
            <a:ext cx="26814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8B7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NZ: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5734050" y="3911798"/>
            <a:ext cx="268147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 uses similar pay cycles and has the same gap. Proven model can expand to 30M+ addressable market.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266700"/>
            <a:ext cx="4478845" cy="34290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6250" y="1237357"/>
            <a:ext cx="2635300" cy="266700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" y="138975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38975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95350" y="138975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tmp/rasterized-gradient-a22b32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1580257"/>
            <a:ext cx="2330500" cy="2171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65201" y="2506117"/>
            <a:ext cx="125739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[Dashboard Screenshot]</a:t>
            </a:r>
            <a:endParaRPr lang="en-US" sz="900" dirty="0"/>
          </a:p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 overview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49897" y="4171057"/>
            <a:ext cx="26880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900"/>
              </a:spcBef>
              <a:buNone/>
            </a:pPr>
            <a:r>
              <a:rPr lang="en-US" sz="900" b="1" dirty="0">
                <a:solidFill>
                  <a:srgbClr val="5A7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49897" y="4521547"/>
            <a:ext cx="26880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At-a-glance financial health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3302050" y="1237357"/>
            <a:ext cx="2635300" cy="266700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454450" y="138975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587800" y="138975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721150" y="138975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1" descr="/tmp/rasterized-gradient-5c2e28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50" y="1580257"/>
            <a:ext cx="2330500" cy="21717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20147" y="2506117"/>
            <a:ext cx="119910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[Allocation Screenshot]</a:t>
            </a:r>
            <a:endParaRPr lang="en-US" sz="900" dirty="0"/>
          </a:p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 management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275697" y="4171057"/>
            <a:ext cx="26880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900"/>
              </a:spcBef>
              <a:buNone/>
            </a:pPr>
            <a:r>
              <a:rPr lang="en-US" sz="900" b="1" dirty="0">
                <a:solidFill>
                  <a:srgbClr val="5A7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Allocation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275697" y="4521547"/>
            <a:ext cx="26880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your money where to go</a:t>
            </a:r>
            <a:endParaRPr lang="en-US" sz="825" dirty="0"/>
          </a:p>
        </p:txBody>
      </p:sp>
      <p:sp>
        <p:nvSpPr>
          <p:cNvPr id="20" name="Text 16"/>
          <p:cNvSpPr/>
          <p:nvPr/>
        </p:nvSpPr>
        <p:spPr>
          <a:xfrm>
            <a:off x="6127849" y="1237357"/>
            <a:ext cx="2635300" cy="266700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280249" y="138975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413599" y="138975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546949" y="138975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2" descr="/tmp/rasterized-gradient-fa89d4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249" y="1580257"/>
            <a:ext cx="2330500" cy="21717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216825" y="2252811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2EEEC"/>
          </a:solidFill>
          <a:ln w="19050">
            <a:solidFill>
              <a:srgbClr val="7A9E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6422108" y="2786211"/>
            <a:ext cx="204678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5A7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"You've got this! Your Starter Stash is 60% funded."</a:t>
            </a:r>
            <a:endParaRPr lang="en-US" sz="825" dirty="0"/>
          </a:p>
        </p:txBody>
      </p:sp>
      <p:sp>
        <p:nvSpPr>
          <p:cNvPr id="27" name="Text 22"/>
          <p:cNvSpPr/>
          <p:nvPr/>
        </p:nvSpPr>
        <p:spPr>
          <a:xfrm>
            <a:off x="6101496" y="4171057"/>
            <a:ext cx="26880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900"/>
              </a:spcBef>
              <a:buNone/>
            </a:pPr>
            <a:r>
              <a:rPr lang="en-US" sz="900" b="1" dirty="0">
                <a:solidFill>
                  <a:srgbClr val="5A7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Remy Coaching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101496" y="4521547"/>
            <a:ext cx="26880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at every step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266700"/>
            <a:ext cx="4478845" cy="34290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8001000" cy="4076700"/>
          </a:xfrm>
          <a:prstGeom prst="roundRect">
            <a:avLst>
              <a:gd name="adj" fmla="val 2804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914400"/>
            <a:ext cx="8001000" cy="426690"/>
          </a:xfrm>
          <a:prstGeom prst="rect">
            <a:avLst/>
          </a:prstGeom>
          <a:solidFill>
            <a:srgbClr val="3D3D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900" y="1047750"/>
            <a:ext cx="12435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47900" y="914400"/>
            <a:ext cx="1466850" cy="426690"/>
          </a:xfrm>
          <a:prstGeom prst="rect">
            <a:avLst/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349818" y="1047750"/>
            <a:ext cx="12630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Budget Mate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69068" y="1047750"/>
            <a:ext cx="12630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YNAB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88318" y="1047750"/>
            <a:ext cx="12630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PocketSmith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07568" y="1047750"/>
            <a:ext cx="12630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Goodbudget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1500" y="1755428"/>
            <a:ext cx="8001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" y="1351508"/>
            <a:ext cx="1524000" cy="38859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3900" y="1465808"/>
            <a:ext cx="12435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Bank Integration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47900" y="1341090"/>
            <a:ext cx="1466850" cy="409575"/>
          </a:xfrm>
          <a:prstGeom prst="rect">
            <a:avLst/>
          </a:prstGeom>
          <a:solidFill>
            <a:srgbClr val="E2EE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67150" y="1341090"/>
            <a:ext cx="146685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86400" y="1341090"/>
            <a:ext cx="146685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05650" y="1341090"/>
            <a:ext cx="146685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71500" y="2174528"/>
            <a:ext cx="8001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" y="1770608"/>
            <a:ext cx="1524000" cy="38859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23900" y="1884908"/>
            <a:ext cx="12435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 Budgeting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47900" y="1760190"/>
            <a:ext cx="1466850" cy="409575"/>
          </a:xfrm>
          <a:prstGeom prst="rect">
            <a:avLst/>
          </a:prstGeom>
          <a:solidFill>
            <a:srgbClr val="E2EE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867150" y="1760190"/>
            <a:ext cx="146685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86400" y="1760190"/>
            <a:ext cx="146685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05650" y="1760190"/>
            <a:ext cx="146685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71500" y="2593628"/>
            <a:ext cx="8001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" y="2189708"/>
            <a:ext cx="1524000" cy="38859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23900" y="2304008"/>
            <a:ext cx="12435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Coaching/Guidance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47900" y="2179290"/>
            <a:ext cx="1466850" cy="409575"/>
          </a:xfrm>
          <a:prstGeom prst="rect">
            <a:avLst/>
          </a:prstGeom>
          <a:solidFill>
            <a:srgbClr val="E2EE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867150" y="2179290"/>
            <a:ext cx="146685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486400" y="2179290"/>
            <a:ext cx="146685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105650" y="2179290"/>
            <a:ext cx="146685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71500" y="3012728"/>
            <a:ext cx="8001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" y="2608808"/>
            <a:ext cx="1524000" cy="38859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23900" y="2723108"/>
            <a:ext cx="12435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Multi-Income Support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247900" y="2598390"/>
            <a:ext cx="1466850" cy="409575"/>
          </a:xfrm>
          <a:prstGeom prst="rect">
            <a:avLst/>
          </a:prstGeom>
          <a:solidFill>
            <a:srgbClr val="E2EE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867150" y="2603153"/>
            <a:ext cx="14668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486400" y="2598390"/>
            <a:ext cx="146685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105650" y="2598390"/>
            <a:ext cx="146685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71500" y="3431828"/>
            <a:ext cx="8001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500" y="3027908"/>
            <a:ext cx="1524000" cy="38859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23900" y="3142208"/>
            <a:ext cx="12435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 UI (No Red)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247900" y="3017490"/>
            <a:ext cx="1466850" cy="409575"/>
          </a:xfrm>
          <a:prstGeom prst="rect">
            <a:avLst/>
          </a:prstGeom>
          <a:solidFill>
            <a:srgbClr val="E2EE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867150" y="3017490"/>
            <a:ext cx="146685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486400" y="3017490"/>
            <a:ext cx="146685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105650" y="3017490"/>
            <a:ext cx="146685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71500" y="3447008"/>
            <a:ext cx="1524000" cy="38859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23900" y="3561308"/>
            <a:ext cx="12435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NZ-Centric Language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247900" y="3436590"/>
            <a:ext cx="1466850" cy="409575"/>
          </a:xfrm>
          <a:prstGeom prst="rect">
            <a:avLst/>
          </a:prstGeom>
          <a:solidFill>
            <a:srgbClr val="E2EE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867150" y="3436590"/>
            <a:ext cx="146685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486400" y="3436590"/>
            <a:ext cx="146685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105650" y="3436590"/>
            <a:ext cx="146685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266700"/>
            <a:ext cx="4478845" cy="34290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 Now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1242120"/>
            <a:ext cx="493547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5A7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STATUS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71500" y="1581150"/>
            <a:ext cx="4838700" cy="1041946"/>
          </a:xfrm>
          <a:prstGeom prst="roundRect">
            <a:avLst>
              <a:gd name="adj" fmla="val 10970"/>
            </a:avLst>
          </a:prstGeom>
          <a:solidFill>
            <a:srgbClr val="E2EE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0550" y="1581150"/>
            <a:ext cx="0" cy="1041946"/>
          </a:xfrm>
          <a:prstGeom prst="line">
            <a:avLst/>
          </a:prstGeom>
          <a:noFill/>
          <a:ln w="38100">
            <a:solidFill>
              <a:srgbClr val="7A9E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" y="1771650"/>
            <a:ext cx="45079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Beta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0100" y="2061121"/>
            <a:ext cx="45079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product live and functional. Transitioning from invite-only to open registration.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71500" y="2775496"/>
            <a:ext cx="493547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 Complete: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71500" y="3043982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8200" y="3059162"/>
            <a:ext cx="2488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 budgeting with multi-income allocation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1500" y="3329732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8200" y="3344912"/>
            <a:ext cx="15555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bank integration via Akahu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1500" y="3615482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8200" y="3630662"/>
            <a:ext cx="20092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Remy coaching throughout onboarding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1500" y="3901232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38200" y="3916412"/>
            <a:ext cx="18448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tracking and debt payoff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1500" y="4186982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38200" y="4202162"/>
            <a:ext cx="16848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reconciliation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1500" y="4472732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38200" y="4487912"/>
            <a:ext cx="1871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"Pays Until Due" bill urgency feature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15000" y="991791"/>
            <a:ext cx="2857500" cy="1479947"/>
          </a:xfrm>
          <a:prstGeom prst="roundRect">
            <a:avLst>
              <a:gd name="adj" fmla="val 7723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05500" y="1182291"/>
            <a:ext cx="25260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905500" y="1469827"/>
            <a:ext cx="25260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+ React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05500" y="1686967"/>
            <a:ext cx="25260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(PostgreSQL + Auth)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05500" y="1904107"/>
            <a:ext cx="25260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Akahu API for bank feeds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05500" y="2121247"/>
            <a:ext cx="25260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hosting</a:t>
            </a:r>
            <a:endParaRPr lang="en-US" sz="900" dirty="0"/>
          </a:p>
        </p:txBody>
      </p:sp>
      <p:pic>
        <p:nvPicPr>
          <p:cNvPr id="28" name="Image 0" descr="/tmp/rasterized-gradient-06a66db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624138"/>
            <a:ext cx="2857500" cy="1460897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905500" y="2814638"/>
            <a:ext cx="25260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5905500" y="3064073"/>
            <a:ext cx="252603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5905500" y="3380184"/>
            <a:ext cx="25260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built for growth. Need investment to accelerate user acquisition and feature development.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715000" y="4237434"/>
            <a:ext cx="2857500" cy="676126"/>
          </a:xfrm>
          <a:prstGeom prst="roundRect">
            <a:avLst>
              <a:gd name="adj" fmla="val 16905"/>
            </a:avLst>
          </a:prstGeom>
          <a:solidFill>
            <a:srgbClr val="DDEA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841873" y="4389834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B9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MILESTONE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5841873" y="4574530"/>
            <a:ext cx="260375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Active Users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266700"/>
            <a:ext cx="4478845" cy="34290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964257"/>
            <a:ext cx="1759000" cy="3976836"/>
          </a:xfrm>
          <a:prstGeom prst="roundRect">
            <a:avLst>
              <a:gd name="adj" fmla="val 8664"/>
            </a:avLst>
          </a:prstGeom>
          <a:solidFill>
            <a:srgbClr val="F3F4F6"/>
          </a:solidFill>
          <a:ln w="19050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9150" y="1211907"/>
            <a:ext cx="12889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9150" y="1600498"/>
            <a:ext cx="128897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19150" y="2217688"/>
            <a:ext cx="12889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200"/>
              </a:spcAft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Forever free basics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819150" y="2981325"/>
            <a:ext cx="128897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Manual transaction entry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819150" y="3350716"/>
            <a:ext cx="12889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5 envelopes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819150" y="3573512"/>
            <a:ext cx="12889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Basic reports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819150" y="3796308"/>
            <a:ext cx="12889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Remy coaching tips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806513" y="4560094"/>
            <a:ext cx="12889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200"/>
              </a:spcBef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gen &amp; habit building</a:t>
            </a:r>
            <a:endParaRPr lang="en-US" sz="750" dirty="0"/>
          </a:p>
        </p:txBody>
      </p:sp>
      <p:pic>
        <p:nvPicPr>
          <p:cNvPr id="13" name="Image 0" descr="/tmp/rasterized-gradient-ed17e4c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1000" y="964257"/>
            <a:ext cx="1778050" cy="397683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778175" y="1221432"/>
            <a:ext cx="128897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5A7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(MOST POPULAR)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778175" y="1770013"/>
            <a:ext cx="128897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300"/>
              </a:spcAft>
              <a:buNone/>
            </a:pPr>
            <a:r>
              <a:rPr lang="en-US" sz="2400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</a:t>
            </a:r>
            <a:pPr algn="l" indent="0" marL="0">
              <a:lnSpc>
                <a:spcPts val="336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/mo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2778175" y="2387203"/>
            <a:ext cx="12889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200"/>
              </a:spcAft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$99/year (save 31%)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2778175" y="2838599"/>
            <a:ext cx="12889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Free, plus: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2778175" y="3061395"/>
            <a:ext cx="12889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NZ bank sync via Akahu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2778175" y="3284190"/>
            <a:ext cx="12889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Unlimited envelopes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2778175" y="3506986"/>
            <a:ext cx="12889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Multi-income allocation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2778175" y="3729782"/>
            <a:ext cx="12889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Goal tracking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2778175" y="3952577"/>
            <a:ext cx="128897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Credit card management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2765538" y="4550569"/>
            <a:ext cx="12889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200"/>
              </a:spcBef>
              <a:buNone/>
            </a:pPr>
            <a:r>
              <a:rPr lang="en-US" sz="750" b="1" dirty="0">
                <a:solidFill>
                  <a:srgbClr val="5A7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revenue driver</a:t>
            </a:r>
            <a:endParaRPr lang="en-US" sz="750" dirty="0"/>
          </a:p>
        </p:txBody>
      </p:sp>
      <p:pic>
        <p:nvPicPr>
          <p:cNvPr id="24" name="Image 1" descr="/tmp/rasterized-gradient-2d37cad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549" y="964257"/>
            <a:ext cx="1759000" cy="397683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737199" y="1211907"/>
            <a:ext cx="12889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737199" y="1600498"/>
            <a:ext cx="128897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300"/>
              </a:spcAft>
              <a:buNone/>
            </a:pPr>
            <a:r>
              <a:rPr lang="en-US" sz="2400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</a:t>
            </a:r>
            <a:pPr algn="l" indent="0" marL="0">
              <a:lnSpc>
                <a:spcPts val="336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/mo</a:t>
            </a:r>
            <a:endParaRPr lang="en-US" sz="2400" dirty="0"/>
          </a:p>
        </p:txBody>
      </p:sp>
      <p:sp>
        <p:nvSpPr>
          <p:cNvPr id="27" name="Text 23"/>
          <p:cNvSpPr/>
          <p:nvPr/>
        </p:nvSpPr>
        <p:spPr>
          <a:xfrm>
            <a:off x="4737199" y="2217688"/>
            <a:ext cx="12889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200"/>
              </a:spcAft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$149/year</a:t>
            </a:r>
            <a:endParaRPr lang="en-US" sz="825" dirty="0"/>
          </a:p>
        </p:txBody>
      </p:sp>
      <p:sp>
        <p:nvSpPr>
          <p:cNvPr id="28" name="Text 24"/>
          <p:cNvSpPr/>
          <p:nvPr/>
        </p:nvSpPr>
        <p:spPr>
          <a:xfrm>
            <a:off x="4737199" y="2870002"/>
            <a:ext cx="12889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Pro, plus:</a:t>
            </a:r>
            <a:endParaRPr lang="en-US" sz="825" dirty="0"/>
          </a:p>
        </p:txBody>
      </p:sp>
      <p:sp>
        <p:nvSpPr>
          <p:cNvPr id="29" name="Text 25"/>
          <p:cNvSpPr/>
          <p:nvPr/>
        </p:nvSpPr>
        <p:spPr>
          <a:xfrm>
            <a:off x="4737199" y="3092797"/>
            <a:ext cx="12889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Kids Module (up to 4)</a:t>
            </a:r>
            <a:endParaRPr lang="en-US" sz="825" dirty="0"/>
          </a:p>
        </p:txBody>
      </p:sp>
      <p:sp>
        <p:nvSpPr>
          <p:cNvPr id="30" name="Text 26"/>
          <p:cNvSpPr/>
          <p:nvPr/>
        </p:nvSpPr>
        <p:spPr>
          <a:xfrm>
            <a:off x="4737199" y="3315593"/>
            <a:ext cx="12889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Chores &amp; pocket money</a:t>
            </a:r>
            <a:endParaRPr lang="en-US" sz="825" dirty="0"/>
          </a:p>
        </p:txBody>
      </p:sp>
      <p:sp>
        <p:nvSpPr>
          <p:cNvPr id="31" name="Text 27"/>
          <p:cNvSpPr/>
          <p:nvPr/>
        </p:nvSpPr>
        <p:spPr>
          <a:xfrm>
            <a:off x="4737199" y="3538389"/>
            <a:ext cx="128897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Life features (shopping, todos)</a:t>
            </a:r>
            <a:endParaRPr lang="en-US" sz="825" dirty="0"/>
          </a:p>
        </p:txBody>
      </p:sp>
      <p:sp>
        <p:nvSpPr>
          <p:cNvPr id="32" name="Text 28"/>
          <p:cNvSpPr/>
          <p:nvPr/>
        </p:nvSpPr>
        <p:spPr>
          <a:xfrm>
            <a:off x="4737199" y="3907780"/>
            <a:ext cx="12889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Household dashboard</a:t>
            </a:r>
            <a:endParaRPr lang="en-US" sz="825" dirty="0"/>
          </a:p>
        </p:txBody>
      </p:sp>
      <p:sp>
        <p:nvSpPr>
          <p:cNvPr id="33" name="Text 29"/>
          <p:cNvSpPr/>
          <p:nvPr/>
        </p:nvSpPr>
        <p:spPr>
          <a:xfrm>
            <a:off x="4724562" y="4560094"/>
            <a:ext cx="12889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200"/>
              </a:spcBef>
              <a:buNone/>
            </a:pPr>
            <a:r>
              <a:rPr lang="en-US" sz="750" b="1" dirty="0">
                <a:solidFill>
                  <a:srgbClr val="8B7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upsell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6477000" y="1236762"/>
            <a:ext cx="2095500" cy="900857"/>
          </a:xfrm>
          <a:prstGeom prst="roundRect">
            <a:avLst>
              <a:gd name="adj" fmla="val 12688"/>
            </a:avLst>
          </a:prstGeom>
          <a:solidFill>
            <a:srgbClr val="3D3D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6629400" y="1389162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LTV:CAC</a:t>
            </a:r>
            <a:endParaRPr lang="en-US" sz="825" dirty="0"/>
          </a:p>
        </p:txBody>
      </p:sp>
      <p:sp>
        <p:nvSpPr>
          <p:cNvPr id="36" name="Text 32"/>
          <p:cNvSpPr/>
          <p:nvPr/>
        </p:nvSpPr>
        <p:spPr>
          <a:xfrm>
            <a:off x="6629400" y="1611957"/>
            <a:ext cx="182651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3:1</a:t>
            </a:r>
            <a:endParaRPr lang="en-US" sz="2100" dirty="0"/>
          </a:p>
        </p:txBody>
      </p:sp>
      <p:sp>
        <p:nvSpPr>
          <p:cNvPr id="37" name="Text 33"/>
          <p:cNvSpPr/>
          <p:nvPr/>
        </p:nvSpPr>
        <p:spPr>
          <a:xfrm>
            <a:off x="6477000" y="2251918"/>
            <a:ext cx="2095500" cy="729407"/>
          </a:xfrm>
          <a:prstGeom prst="roundRect">
            <a:avLst>
              <a:gd name="adj" fmla="val 1567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6629400" y="2404318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Revenue/User</a:t>
            </a:r>
            <a:endParaRPr lang="en-US" sz="825" dirty="0"/>
          </a:p>
        </p:txBody>
      </p:sp>
      <p:sp>
        <p:nvSpPr>
          <p:cNvPr id="39" name="Text 35"/>
          <p:cNvSpPr/>
          <p:nvPr/>
        </p:nvSpPr>
        <p:spPr>
          <a:xfrm>
            <a:off x="6629400" y="2589014"/>
            <a:ext cx="18265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~$120/yr</a:t>
            </a:r>
            <a:endParaRPr lang="en-US" sz="1350" dirty="0"/>
          </a:p>
        </p:txBody>
      </p:sp>
      <p:sp>
        <p:nvSpPr>
          <p:cNvPr id="40" name="Text 36"/>
          <p:cNvSpPr/>
          <p:nvPr/>
        </p:nvSpPr>
        <p:spPr>
          <a:xfrm>
            <a:off x="6477000" y="3095625"/>
            <a:ext cx="2095500" cy="729407"/>
          </a:xfrm>
          <a:prstGeom prst="roundRect">
            <a:avLst>
              <a:gd name="adj" fmla="val 1567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6629400" y="3248025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Conversion</a:t>
            </a:r>
            <a:endParaRPr lang="en-US" sz="825" dirty="0"/>
          </a:p>
        </p:txBody>
      </p:sp>
      <p:sp>
        <p:nvSpPr>
          <p:cNvPr id="42" name="Text 38"/>
          <p:cNvSpPr/>
          <p:nvPr/>
        </p:nvSpPr>
        <p:spPr>
          <a:xfrm>
            <a:off x="6629400" y="3432721"/>
            <a:ext cx="18265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free→pro</a:t>
            </a:r>
            <a:endParaRPr lang="en-US" sz="1350" dirty="0"/>
          </a:p>
        </p:txBody>
      </p:sp>
      <p:sp>
        <p:nvSpPr>
          <p:cNvPr id="43" name="Text 39"/>
          <p:cNvSpPr/>
          <p:nvPr/>
        </p:nvSpPr>
        <p:spPr>
          <a:xfrm>
            <a:off x="6477000" y="3939332"/>
            <a:ext cx="2095500" cy="729407"/>
          </a:xfrm>
          <a:prstGeom prst="roundRect">
            <a:avLst>
              <a:gd name="adj" fmla="val 15670"/>
            </a:avLst>
          </a:prstGeom>
          <a:solidFill>
            <a:srgbClr val="E2EE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6629400" y="4091732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5A7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@ 10k users</a:t>
            </a:r>
            <a:endParaRPr lang="en-US" sz="825" dirty="0"/>
          </a:p>
        </p:txBody>
      </p:sp>
      <p:sp>
        <p:nvSpPr>
          <p:cNvPr id="45" name="Text 41"/>
          <p:cNvSpPr/>
          <p:nvPr/>
        </p:nvSpPr>
        <p:spPr>
          <a:xfrm>
            <a:off x="6629400" y="4276427"/>
            <a:ext cx="18265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$180k ARR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Roadmap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7700" y="685800"/>
            <a:ext cx="82776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household operating system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215330"/>
            <a:ext cx="1771650" cy="586680"/>
          </a:xfrm>
          <a:prstGeom prst="roundRect">
            <a:avLst>
              <a:gd name="adj" fmla="val 19483"/>
            </a:avLst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8200" y="1329630"/>
            <a:ext cx="14961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8200" y="1501080"/>
            <a:ext cx="149618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Budgeting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86050" y="1215330"/>
            <a:ext cx="1771650" cy="586680"/>
          </a:xfrm>
          <a:prstGeom prst="rect">
            <a:avLst/>
          </a:prstGeom>
          <a:solidFill>
            <a:srgbClr val="5A7E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38450" y="1329630"/>
            <a:ext cx="14961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838450" y="1501080"/>
            <a:ext cx="149618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Kids Module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86300" y="1215330"/>
            <a:ext cx="1771650" cy="586680"/>
          </a:xfrm>
          <a:prstGeom prst="rect">
            <a:avLst/>
          </a:prstGeom>
          <a:solidFill>
            <a:srgbClr val="6B9E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38700" y="1329630"/>
            <a:ext cx="14961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838700" y="1501080"/>
            <a:ext cx="149618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Features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86550" y="1215330"/>
            <a:ext cx="1771650" cy="586680"/>
          </a:xfrm>
          <a:prstGeom prst="rect">
            <a:avLst/>
          </a:prstGeom>
          <a:solidFill>
            <a:srgbClr val="D4A8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38950" y="1329630"/>
            <a:ext cx="14961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2026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838950" y="1501080"/>
            <a:ext cx="149618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1500" y="1992511"/>
            <a:ext cx="1885950" cy="1565374"/>
          </a:xfrm>
          <a:prstGeom prst="roundRect">
            <a:avLst>
              <a:gd name="adj" fmla="val 7302"/>
            </a:avLst>
          </a:prstGeom>
          <a:solidFill>
            <a:srgbClr val="E2EE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3900" y="2144911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A7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Completed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23900" y="2367707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 budgeting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23900" y="2590502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integration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723900" y="2813298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Remy coaching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23900" y="3036094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23900" y="3258889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2609850" y="1992511"/>
            <a:ext cx="1885950" cy="1565374"/>
          </a:xfrm>
          <a:prstGeom prst="roundRect">
            <a:avLst>
              <a:gd name="adj" fmla="val 7302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762250" y="2144911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A7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Development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2762250" y="2367707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profiles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2762250" y="2590502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Chores &amp; rewards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2762250" y="2813298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 money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2762250" y="3036094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system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2762250" y="3258889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 bank links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648200" y="1992511"/>
            <a:ext cx="1885950" cy="1565374"/>
          </a:xfrm>
          <a:prstGeom prst="roundRect">
            <a:avLst>
              <a:gd name="adj" fmla="val 7302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00600" y="2144911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B9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800600" y="2367707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lists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800600" y="2590502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To-do management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800600" y="2813298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planning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4800600" y="3036094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 collection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4800600" y="3258889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sync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6686550" y="1992511"/>
            <a:ext cx="1885950" cy="1565374"/>
          </a:xfrm>
          <a:prstGeom prst="roundRect">
            <a:avLst>
              <a:gd name="adj" fmla="val 7302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838950" y="2144911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6838950" y="2367707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expansion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6838950" y="2590502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app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6838950" y="2813298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platform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6838950" y="3036094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negotiation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6838950" y="3258889"/>
            <a:ext cx="16127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insights</a:t>
            </a:r>
            <a:endParaRPr lang="en-US" sz="825" dirty="0"/>
          </a:p>
        </p:txBody>
      </p:sp>
      <p:pic>
        <p:nvPicPr>
          <p:cNvPr id="45" name="Image 0" descr="/tmp/rasterized-gradient-2179d0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4461570"/>
            <a:ext cx="8001000" cy="49143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646938" y="4613970"/>
            <a:ext cx="78501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app families open every day to run their household - money, meals, and more."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266700"/>
            <a:ext cx="4478845" cy="34290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</a:t>
            </a:r>
            <a:endParaRPr lang="en-US" sz="2700" dirty="0"/>
          </a:p>
        </p:txBody>
      </p:sp>
      <p:pic>
        <p:nvPicPr>
          <p:cNvPr id="4" name="Image 0" descr="/tmp/rasterized-gradient-70e86c3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692771"/>
            <a:ext cx="1333500" cy="133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33600" y="1692771"/>
            <a:ext cx="307009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133600" y="2088952"/>
            <a:ext cx="30700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5A7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Product Lead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133600" y="2427982"/>
            <a:ext cx="3070098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your background here - experience, what led you to build this, relevant skills, personal connection to the problem]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571500" y="3216771"/>
            <a:ext cx="4572000" cy="995958"/>
          </a:xfrm>
          <a:prstGeom prst="roundRect">
            <a:avLst>
              <a:gd name="adj" fmla="val 11476"/>
            </a:avLst>
          </a:prstGeom>
          <a:solidFill>
            <a:srgbClr val="E2EE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90550" y="3216771"/>
            <a:ext cx="0" cy="995958"/>
          </a:xfrm>
          <a:prstGeom prst="line">
            <a:avLst/>
          </a:prstGeom>
          <a:noFill/>
          <a:ln w="38100">
            <a:solidFill>
              <a:srgbClr val="7A9E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" y="3407271"/>
            <a:ext cx="42359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5A7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I'm Building This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00100" y="3656707"/>
            <a:ext cx="4235958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personal story - the struggle that led to the solution, your unique insight into the problem, passion for helping Kiwis with their finances]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24500" y="1194643"/>
            <a:ext cx="31089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Team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524500" y="1533674"/>
            <a:ext cx="3048000" cy="1055191"/>
          </a:xfrm>
          <a:prstGeom prst="roundRect">
            <a:avLst>
              <a:gd name="adj" fmla="val 10832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676900" y="1686074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DDEA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134100" y="1697534"/>
            <a:ext cx="12888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Co-founder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6134100" y="1870770"/>
            <a:ext cx="12888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676900" y="2143274"/>
            <a:ext cx="279806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engineer to scale the platform and lead development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5524500" y="2741265"/>
            <a:ext cx="3048000" cy="908596"/>
          </a:xfrm>
          <a:prstGeom prst="roundRect">
            <a:avLst>
              <a:gd name="adj" fmla="val 1258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676900" y="289366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5E6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134100" y="2905125"/>
            <a:ext cx="11438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/ Marketing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6134100" y="3078361"/>
            <a:ext cx="11438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5676900" y="3350865"/>
            <a:ext cx="27980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acquisition, content marketing, community building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5524500" y="3802261"/>
            <a:ext cx="3048000" cy="908596"/>
          </a:xfrm>
          <a:prstGeom prst="roundRect">
            <a:avLst>
              <a:gd name="adj" fmla="val 12580"/>
            </a:avLst>
          </a:prstGeom>
          <a:solidFill>
            <a:srgbClr val="E2EE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676900" y="3954661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134100" y="3966121"/>
            <a:ext cx="10694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6134100" y="4139357"/>
            <a:ext cx="10694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7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 conversations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5676900" y="4411861"/>
            <a:ext cx="27980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Fintech, NZ market, consumer apps experience welcome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D4A8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266700"/>
            <a:ext cx="4478845" cy="34290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2700" dirty="0"/>
          </a:p>
        </p:txBody>
      </p:sp>
      <p:pic>
        <p:nvPicPr>
          <p:cNvPr id="4" name="Image 0" descr="/tmp/rasterized-gradient-6c90f7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094631"/>
            <a:ext cx="4267200" cy="16723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8200" y="1361331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38200" y="1597521"/>
            <a:ext cx="380847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$[Amount]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38200" y="2313682"/>
            <a:ext cx="3808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raise to reach product-market fit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957513"/>
            <a:ext cx="4267200" cy="1853357"/>
          </a:xfrm>
          <a:prstGeom prst="roundRect">
            <a:avLst>
              <a:gd name="adj" fmla="val 6167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62000" y="3148013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762000" y="3435548"/>
            <a:ext cx="116661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Product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419302" y="3435548"/>
            <a:ext cx="233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62000" y="3690789"/>
            <a:ext cx="3886200" cy="762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62000" y="3690789"/>
            <a:ext cx="1943100" cy="76200"/>
          </a:xfrm>
          <a:prstGeom prst="rect">
            <a:avLst/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62000" y="3862239"/>
            <a:ext cx="10302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Growth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419302" y="3862239"/>
            <a:ext cx="233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62000" y="4117479"/>
            <a:ext cx="3886200" cy="762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62000" y="4117479"/>
            <a:ext cx="1165771" cy="76200"/>
          </a:xfrm>
          <a:prstGeom prst="rect">
            <a:avLst/>
          </a:prstGeom>
          <a:solidFill>
            <a:srgbClr val="6B9E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62000" y="4288929"/>
            <a:ext cx="13997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Infrastructure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419302" y="4288929"/>
            <a:ext cx="233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62000" y="4544169"/>
            <a:ext cx="3886200" cy="762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62000" y="4544169"/>
            <a:ext cx="777180" cy="76200"/>
          </a:xfrm>
          <a:prstGeom prst="rect">
            <a:avLst/>
          </a:prstGeom>
          <a:solidFill>
            <a:srgbClr val="D4A8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143500" y="842218"/>
            <a:ext cx="34975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Looking For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143500" y="1181249"/>
            <a:ext cx="3429000" cy="986730"/>
          </a:xfrm>
          <a:prstGeom prst="roundRect">
            <a:avLst>
              <a:gd name="adj" fmla="val 11584"/>
            </a:avLst>
          </a:prstGeom>
          <a:solidFill>
            <a:srgbClr val="E2EEEC"/>
          </a:solidFill>
          <a:ln w="19050">
            <a:solidFill>
              <a:srgbClr val="B8D4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752654" y="1390799"/>
            <a:ext cx="266250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 Investors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752654" y="1615529"/>
            <a:ext cx="2662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Individuals who believe in financial wellness and the NZ market opportunity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143500" y="2320379"/>
            <a:ext cx="3429000" cy="986730"/>
          </a:xfrm>
          <a:prstGeom prst="roundRect">
            <a:avLst>
              <a:gd name="adj" fmla="val 11584"/>
            </a:avLst>
          </a:prstGeom>
          <a:solidFill>
            <a:srgbClr val="DDEAF5"/>
          </a:solidFill>
          <a:ln w="19050">
            <a:solidFill>
              <a:srgbClr val="6B9E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752654" y="2529929"/>
            <a:ext cx="266250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752654" y="2754660"/>
            <a:ext cx="2662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Marketing, development, fintech ecosystem connections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143500" y="3459510"/>
            <a:ext cx="3429000" cy="986730"/>
          </a:xfrm>
          <a:prstGeom prst="roundRect">
            <a:avLst>
              <a:gd name="adj" fmla="val 11584"/>
            </a:avLst>
          </a:prstGeom>
          <a:solidFill>
            <a:srgbClr val="F5E6C4"/>
          </a:solidFill>
          <a:ln w="19050">
            <a:solidFill>
              <a:srgbClr val="D4A85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752654" y="3669060"/>
            <a:ext cx="266250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752654" y="3893790"/>
            <a:ext cx="2662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someone who'd be interested? A warm intro goes a long way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143500" y="4598640"/>
            <a:ext cx="3429000" cy="464790"/>
          </a:xfrm>
          <a:prstGeom prst="roundRect">
            <a:avLst>
              <a:gd name="adj" fmla="val 24592"/>
            </a:avLst>
          </a:prstGeom>
          <a:solidFill>
            <a:srgbClr val="3D3D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264658" y="4751040"/>
            <a:ext cx="31866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 1,000 paying users within 12 months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0" y="418356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FFFFFF"/>
          </a:solidFill>
          <a:ln w="28575">
            <a:solidFill>
              <a:srgbClr val="D4A85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35884" y="1485156"/>
            <a:ext cx="2862733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spcAft>
                <a:spcPts val="450"/>
              </a:spcAft>
              <a:buNone/>
            </a:pPr>
            <a:r>
              <a:rPr lang="en-US" sz="195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help Kiwis get sorted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869518" y="2041327"/>
            <a:ext cx="159531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1500"/>
              </a:spcAft>
              <a:buNone/>
            </a:pPr>
            <a:r>
              <a:rPr lang="en-US" sz="1050" i="1" dirty="0">
                <a:solidFill>
                  <a:srgbClr val="5A7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calm budget at a time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499396" y="2570857"/>
            <a:ext cx="2335709" cy="1485602"/>
          </a:xfrm>
          <a:prstGeom prst="roundRect">
            <a:avLst>
              <a:gd name="adj" fmla="val 10258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45228" y="2780407"/>
            <a:ext cx="164404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in Touch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260899" y="3134618"/>
            <a:ext cx="10981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[your@email.com]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33534" y="3397448"/>
            <a:ext cx="13528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5A7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mybudgetmate.co.nz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10844" y="3660279"/>
            <a:ext cx="9981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[LinkedIn profile]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39914" y="4361259"/>
            <a:ext cx="1654671" cy="363736"/>
          </a:xfrm>
          <a:prstGeom prst="roundRect">
            <a:avLst>
              <a:gd name="adj" fmla="val 20949"/>
            </a:avLst>
          </a:prstGeom>
          <a:solidFill>
            <a:srgbClr val="7A9E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56540" y="4456509"/>
            <a:ext cx="122142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live demo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Budget Mate - Investor Pitch</dc:title>
  <dc:subject>Seed Investment Opportunity</dc:subject>
  <dc:creator>My Budget Mate</dc:creator>
  <cp:lastModifiedBy>My Budget Mate</cp:lastModifiedBy>
  <cp:revision>1</cp:revision>
  <dcterms:created xsi:type="dcterms:W3CDTF">2026-01-12T04:08:43Z</dcterms:created>
  <dcterms:modified xsi:type="dcterms:W3CDTF">2026-01-12T04:08:43Z</dcterms:modified>
</cp:coreProperties>
</file>